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app, three very different places, one control plane - and the Equinix footprint never touches the internet. Over the next 20 minutes: why, how it's wired, and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enterprises run Kubernetes in more than one place. Colocation is common for data gravity, latency, sovereignty and GPU capacity - and those sites often forbid internet egress by policy.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goals drive everything that follows. The fourth one - private where it matters - is what Equinix Fabric and ExpressRoute add to the Fleet + Arc story.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reach Azure: the internet for EKS, a private circuit for Equinix. Fleet doesn't care which - both are Arc-enabled members. Each storefront is fully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internet egress in the cage. Arc agents use an explicit passthrough proxy that is only reachable over ExpressRoute, and they only need the nine Arc gateway endpoints. TLS stays end to 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sides are Terraform: azurerm for the circuit, gateway and peering; the Equinix provider for the Fabric connections. Quick Connect in the portal does the same thing. Remember the circuit bills from the moment its service key is issued.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architecture question, answered up front. Arc Private Link for Kubernetes is still preview and still needs Entra ID, ARM and MCR over the internet. Fleet requires the Arc gateway for Arc members behind a proxy - and the proxy must be passthrough, not TLS-terminating.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placement selects every member of the demo. Three small overrides express everything that differs: load balancer annotations, the platform banner (Azure, AWS, On-Premises) and a Redis marker.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docs/DEMO-RUNSHEET.md. Fallbacks: pre-captured show-private-path output, Arc Cluster Connect port-forward for the Equinix storefront, and the recorded backup video.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each proof point: Fabric status, BGP routes, Arc gateway, proxy log, the storefront fetched across the circuit, and kubectl through Arc Cluster Connect with no VPN.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the limits - it builds trust. Placement and overrides are GA for Arc members; update runs are AKS-only. Equinix Metal is gone, so this demo runs on colocated hardware.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$0.89 an hour for Azure and AWS plus $55 a month for the circuit; the Equinix side is quoted separately. Call to action: clone the repo and try rehearsal mode today - no Equinix hardware needed.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one control plane, three footprints, private where it matters - and all of it is code you can run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the label schema used by placement and overrides, and the full egress allowlist on the Azure proxy. Everything else is denied.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 numbered pipeline. Only apply and connect-er create billable resources, and both ask for typed confirmation.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622"/>
        </a:solidFill>
        <a:effectLst/>
      </p:bgPr>
    </p:bg>
    <p:spTree>
      <p:nvGrpSpPr>
        <p:cNvPr id="1" name=""/>
        <p:cNvGrpSpPr/>
        <p:nvPr/>
      </p:nvGrpSpPr>
      <p:grpSpPr/>
      <p:sp>
        <p:nvSpPr>
          <p:cNvPr id="2" name="TextBox 1"/>
          <p:cNvSpPr txBox="1"/>
          <p:nvPr/>
        </p:nvSpPr>
        <p:spPr>
          <a:xfrm>
            <a:off x="685800" y="1051560"/>
            <a:ext cx="6309360" cy="365760"/>
          </a:xfrm>
          <a:prstGeom prst="rect">
            <a:avLst/>
          </a:prstGeom>
          <a:noFill/>
        </p:spPr>
        <p:txBody>
          <a:bodyPr wrap="square" lIns="0" rIns="0" tIns="0" bIns="0" anchor="t"/>
          <a:lstStyle/>
          <a:p>
            <a:pPr algn="l">
              <a:spcAft>
                <a:spcPts val="0"/>
              </a:spcAft>
            </a:pPr>
            <a:r>
              <a:rPr sz="1300" b="1" i="0">
                <a:solidFill>
                  <a:srgbClr val="6CC7E0"/>
                </a:solidFill>
                <a:latin typeface="Segoe UI"/>
              </a:rPr>
              <a:t>MICROSOFT IGNITE 2026  ·  SAN FRANCISCO</a:t>
            </a:r>
          </a:p>
        </p:txBody>
      </p:sp>
      <p:sp>
        <p:nvSpPr>
          <p:cNvPr id="3" name="TextBox 2"/>
          <p:cNvSpPr txBox="1"/>
          <p:nvPr/>
        </p:nvSpPr>
        <p:spPr>
          <a:xfrm>
            <a:off x="685800" y="1463040"/>
            <a:ext cx="6309360" cy="1737360"/>
          </a:xfrm>
          <a:prstGeom prst="rect">
            <a:avLst/>
          </a:prstGeom>
          <a:noFill/>
        </p:spPr>
        <p:txBody>
          <a:bodyPr wrap="square" lIns="0" rIns="0" tIns="0" bIns="0" anchor="t"/>
          <a:lstStyle/>
          <a:p>
            <a:pPr algn="l">
              <a:spcAft>
                <a:spcPts val="0"/>
              </a:spcAft>
            </a:pPr>
            <a:r>
              <a:rPr sz="5400" b="0" i="0">
                <a:solidFill>
                  <a:srgbClr val="FFFFFF"/>
                </a:solidFill>
                <a:latin typeface="Bahnschrift SemiBold"/>
              </a:rPr>
              <a:t>One fleet,</a:t>
            </a:r>
          </a:p>
          <a:p>
            <a:pPr algn="l">
              <a:spcAft>
                <a:spcPts val="0"/>
              </a:spcAft>
            </a:pPr>
            <a:r>
              <a:rPr sz="5400" b="0" i="0">
                <a:solidFill>
                  <a:srgbClr val="FFFFFF"/>
                </a:solidFill>
                <a:latin typeface="Bahnschrift SemiBold"/>
              </a:rPr>
              <a:t>three footprints</a:t>
            </a:r>
          </a:p>
        </p:txBody>
      </p:sp>
      <p:sp>
        <p:nvSpPr>
          <p:cNvPr id="4" name="TextBox 3"/>
          <p:cNvSpPr txBox="1"/>
          <p:nvPr/>
        </p:nvSpPr>
        <p:spPr>
          <a:xfrm>
            <a:off x="685800" y="3291840"/>
            <a:ext cx="6035040" cy="914400"/>
          </a:xfrm>
          <a:prstGeom prst="rect">
            <a:avLst/>
          </a:prstGeom>
          <a:noFill/>
        </p:spPr>
        <p:txBody>
          <a:bodyPr wrap="square" lIns="0" rIns="0" tIns="0" bIns="0" anchor="t"/>
          <a:lstStyle/>
          <a:p>
            <a:pPr algn="l">
              <a:spcAft>
                <a:spcPts val="0"/>
              </a:spcAft>
            </a:pPr>
            <a:r>
              <a:rPr sz="2200" b="0" i="0">
                <a:solidFill>
                  <a:srgbClr val="C9D3DD"/>
                </a:solidFill>
                <a:latin typeface="Segoe UI"/>
              </a:rPr>
              <a:t>AKS, EKS and Kubernetes at Equinix —</a:t>
            </a:r>
          </a:p>
          <a:p>
            <a:pPr algn="l">
              <a:spcAft>
                <a:spcPts val="0"/>
              </a:spcAft>
            </a:pPr>
            <a:r>
              <a:rPr sz="2200" b="0" i="0">
                <a:solidFill>
                  <a:srgbClr val="C9D3DD"/>
                </a:solidFill>
                <a:latin typeface="Segoe UI"/>
              </a:rPr>
              <a:t>private over ExpressRoute</a:t>
            </a:r>
          </a:p>
        </p:txBody>
      </p:sp>
      <p:sp>
        <p:nvSpPr>
          <p:cNvPr id="5" name="TextBox 4"/>
          <p:cNvSpPr txBox="1"/>
          <p:nvPr/>
        </p:nvSpPr>
        <p:spPr>
          <a:xfrm>
            <a:off x="685800" y="4434840"/>
            <a:ext cx="6035040" cy="640080"/>
          </a:xfrm>
          <a:prstGeom prst="rect">
            <a:avLst/>
          </a:prstGeom>
          <a:noFill/>
        </p:spPr>
        <p:txBody>
          <a:bodyPr wrap="square" lIns="0" rIns="0" tIns="0" bIns="0" anchor="t"/>
          <a:lstStyle/>
          <a:p>
            <a:pPr algn="l">
              <a:spcAft>
                <a:spcPts val="0"/>
              </a:spcAft>
            </a:pPr>
            <a:r>
              <a:rPr sz="1300" b="0" i="0">
                <a:solidFill>
                  <a:srgbClr val="8FA1B3"/>
                </a:solidFill>
                <a:latin typeface="Segoe UI"/>
              </a:rPr>
              <a:t>Azure Kubernetes Fleet Manager  ·  Azure Arc</a:t>
            </a:r>
          </a:p>
          <a:p>
            <a:pPr algn="l">
              <a:spcAft>
                <a:spcPts val="0"/>
              </a:spcAft>
            </a:pPr>
            <a:r>
              <a:rPr sz="1300" b="0" i="0">
                <a:solidFill>
                  <a:srgbClr val="8FA1B3"/>
                </a:solidFill>
                <a:latin typeface="Segoe UI"/>
              </a:rPr>
              <a:t>Equinix Fabric  ·  Azure ExpressRoute</a:t>
            </a:r>
          </a:p>
        </p:txBody>
      </p:sp>
      <p:sp>
        <p:nvSpPr>
          <p:cNvPr id="6" name="TextBox 5"/>
          <p:cNvSpPr txBox="1"/>
          <p:nvPr/>
        </p:nvSpPr>
        <p:spPr>
          <a:xfrm>
            <a:off x="685800" y="5715000"/>
            <a:ext cx="6035040" cy="365760"/>
          </a:xfrm>
          <a:prstGeom prst="rect">
            <a:avLst/>
          </a:prstGeom>
          <a:noFill/>
        </p:spPr>
        <p:txBody>
          <a:bodyPr wrap="square" lIns="0" rIns="0" tIns="0" bIns="0" anchor="t"/>
          <a:lstStyle/>
          <a:p>
            <a:pPr algn="l">
              <a:spcAft>
                <a:spcPts val="0"/>
              </a:spcAft>
            </a:pPr>
            <a:r>
              <a:rPr sz="1500" b="0" i="0">
                <a:solidFill>
                  <a:srgbClr val="FFFFFF"/>
                </a:solidFill>
                <a:latin typeface="Segoe UI"/>
              </a:rPr>
              <a:t>Brian Benz  ·  Microsoft</a:t>
            </a:r>
          </a:p>
        </p:txBody>
      </p:sp>
      <p:cxnSp>
        <p:nvCxnSpPr>
          <p:cNvPr id="7" name="Connector 6"/>
          <p:cNvCxnSpPr/>
          <p:nvPr/>
        </p:nvCxnSpPr>
        <p:spPr>
          <a:xfrm flipH="1" flipV="1">
            <a:off x="7452360" y="1417320"/>
            <a:ext cx="1737360" cy="1828800"/>
          </a:xfrm>
          <a:prstGeom prst="line">
            <a:avLst/>
          </a:prstGeom>
          <a:ln w="31750">
            <a:solidFill>
              <a:srgbClr val="6CC7E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189720" y="1417320"/>
            <a:ext cx="1737360" cy="1828800"/>
          </a:xfrm>
          <a:prstGeom prst="line">
            <a:avLst/>
          </a:prstGeom>
          <a:ln w="31750">
            <a:solidFill>
              <a:srgbClr val="8FA1B3"/>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189720" y="3246120"/>
            <a:ext cx="0" cy="2286000"/>
          </a:xfrm>
          <a:prstGeom prst="line">
            <a:avLst/>
          </a:prstGeom>
          <a:ln w="63500">
            <a:solidFill>
              <a:srgbClr val="E4002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9912" y="2496312"/>
            <a:ext cx="1499616" cy="1499616"/>
          </a:xfrm>
          <a:prstGeom prst="ellipse">
            <a:avLst/>
          </a:prstGeom>
          <a:solidFill>
            <a:srgbClr val="15263A"/>
          </a:solidFill>
          <a:ln w="25400">
            <a:solidFill>
              <a:srgbClr val="6CC7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2880360"/>
            <a:ext cx="1463040" cy="731520"/>
          </a:xfrm>
          <a:prstGeom prst="rect">
            <a:avLst/>
          </a:prstGeom>
          <a:noFill/>
        </p:spPr>
        <p:txBody>
          <a:bodyPr wrap="square" lIns="0" rIns="0" tIns="0" bIns="0" anchor="ctr"/>
          <a:lstStyle/>
          <a:p>
            <a:pPr algn="ctr">
              <a:spcAft>
                <a:spcPts val="0"/>
              </a:spcAft>
            </a:pPr>
            <a:r>
              <a:rPr sz="1500" b="0" i="0">
                <a:solidFill>
                  <a:srgbClr val="FFFFFF"/>
                </a:solidFill>
                <a:latin typeface="Bahnschrift SemiBold"/>
              </a:rPr>
              <a:t>Fleet</a:t>
            </a:r>
          </a:p>
          <a:p>
            <a:pPr algn="ctr">
              <a:spcAft>
                <a:spcPts val="0"/>
              </a:spcAft>
            </a:pPr>
            <a:r>
              <a:rPr sz="1500" b="0" i="0">
                <a:solidFill>
                  <a:srgbClr val="FFFFFF"/>
                </a:solidFill>
                <a:latin typeface="Bahnschrift SemiBold"/>
              </a:rPr>
              <a:t>Manager</a:t>
            </a:r>
          </a:p>
        </p:txBody>
      </p:sp>
      <p:sp>
        <p:nvSpPr>
          <p:cNvPr id="12" name="Oval 11"/>
          <p:cNvSpPr/>
          <p:nvPr/>
        </p:nvSpPr>
        <p:spPr>
          <a:xfrm>
            <a:off x="6922008" y="886968"/>
            <a:ext cx="1060704" cy="1060704"/>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1143000"/>
            <a:ext cx="1097280" cy="548640"/>
          </a:xfrm>
          <a:prstGeom prst="rect">
            <a:avLst/>
          </a:prstGeom>
          <a:noFill/>
        </p:spPr>
        <p:txBody>
          <a:bodyPr wrap="square" lIns="0" rIns="0" tIns="0" bIns="0" anchor="ctr"/>
          <a:lstStyle/>
          <a:p>
            <a:pPr algn="ctr">
              <a:spcAft>
                <a:spcPts val="0"/>
              </a:spcAft>
            </a:pPr>
            <a:r>
              <a:rPr sz="1500" b="0" i="0">
                <a:solidFill>
                  <a:srgbClr val="FFFFFF"/>
                </a:solidFill>
                <a:latin typeface="Bahnschrift SemiBold"/>
              </a:rPr>
              <a:t>AKS</a:t>
            </a:r>
          </a:p>
        </p:txBody>
      </p:sp>
      <p:sp>
        <p:nvSpPr>
          <p:cNvPr id="14" name="Oval 13"/>
          <p:cNvSpPr/>
          <p:nvPr/>
        </p:nvSpPr>
        <p:spPr>
          <a:xfrm>
            <a:off x="10396728" y="886968"/>
            <a:ext cx="1060704" cy="106070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78440" y="1143000"/>
            <a:ext cx="1097280" cy="548640"/>
          </a:xfrm>
          <a:prstGeom prst="rect">
            <a:avLst/>
          </a:prstGeom>
          <a:noFill/>
        </p:spPr>
        <p:txBody>
          <a:bodyPr wrap="square" lIns="0" rIns="0" tIns="0" bIns="0" anchor="ctr"/>
          <a:lstStyle/>
          <a:p>
            <a:pPr algn="ctr">
              <a:spcAft>
                <a:spcPts val="0"/>
              </a:spcAft>
            </a:pPr>
            <a:r>
              <a:rPr sz="1500" b="0" i="0">
                <a:solidFill>
                  <a:srgbClr val="0B1622"/>
                </a:solidFill>
                <a:latin typeface="Bahnschrift SemiBold"/>
              </a:rPr>
              <a:t>EKS</a:t>
            </a:r>
          </a:p>
        </p:txBody>
      </p:sp>
      <p:sp>
        <p:nvSpPr>
          <p:cNvPr id="16" name="Oval 15"/>
          <p:cNvSpPr/>
          <p:nvPr/>
        </p:nvSpPr>
        <p:spPr>
          <a:xfrm>
            <a:off x="8659368" y="5001768"/>
            <a:ext cx="1060704" cy="106070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5257800"/>
            <a:ext cx="1097280" cy="548640"/>
          </a:xfrm>
          <a:prstGeom prst="rect">
            <a:avLst/>
          </a:prstGeom>
          <a:noFill/>
        </p:spPr>
        <p:txBody>
          <a:bodyPr wrap="square" lIns="0" rIns="0" tIns="0" bIns="0" anchor="ctr"/>
          <a:lstStyle/>
          <a:p>
            <a:pPr algn="ctr">
              <a:spcAft>
                <a:spcPts val="0"/>
              </a:spcAft>
            </a:pPr>
            <a:r>
              <a:rPr sz="1300" b="0" i="0">
                <a:solidFill>
                  <a:srgbClr val="FFFFFF"/>
                </a:solidFill>
                <a:latin typeface="Bahnschrift SemiBold"/>
              </a:rPr>
              <a:t>Equinix</a:t>
            </a:r>
          </a:p>
        </p:txBody>
      </p:sp>
      <p:sp>
        <p:nvSpPr>
          <p:cNvPr id="18" name="TextBox 17"/>
          <p:cNvSpPr txBox="1"/>
          <p:nvPr/>
        </p:nvSpPr>
        <p:spPr>
          <a:xfrm>
            <a:off x="6903720" y="2240280"/>
            <a:ext cx="1463040" cy="274320"/>
          </a:xfrm>
          <a:prstGeom prst="rect">
            <a:avLst/>
          </a:prstGeom>
          <a:noFill/>
        </p:spPr>
        <p:txBody>
          <a:bodyPr wrap="square" lIns="0" rIns="0" tIns="0" bIns="0" anchor="t"/>
          <a:lstStyle/>
          <a:p>
            <a:pPr algn="l">
              <a:spcAft>
                <a:spcPts val="0"/>
              </a:spcAft>
            </a:pPr>
            <a:r>
              <a:rPr sz="1100" b="0" i="0">
                <a:solidFill>
                  <a:srgbClr val="6CC7E0"/>
                </a:solidFill>
                <a:latin typeface="Segoe UI"/>
              </a:rPr>
              <a:t>native member</a:t>
            </a:r>
          </a:p>
        </p:txBody>
      </p:sp>
      <p:sp>
        <p:nvSpPr>
          <p:cNvPr id="19" name="TextBox 18"/>
          <p:cNvSpPr txBox="1"/>
          <p:nvPr/>
        </p:nvSpPr>
        <p:spPr>
          <a:xfrm>
            <a:off x="10012680" y="2240280"/>
            <a:ext cx="1417320" cy="274320"/>
          </a:xfrm>
          <a:prstGeom prst="rect">
            <a:avLst/>
          </a:prstGeom>
          <a:noFill/>
        </p:spPr>
        <p:txBody>
          <a:bodyPr wrap="square" lIns="0" rIns="0" tIns="0" bIns="0" anchor="t"/>
          <a:lstStyle/>
          <a:p>
            <a:pPr algn="r">
              <a:spcAft>
                <a:spcPts val="0"/>
              </a:spcAft>
            </a:pPr>
            <a:r>
              <a:rPr sz="1100" b="0" i="0">
                <a:solidFill>
                  <a:srgbClr val="8FA1B3"/>
                </a:solidFill>
                <a:latin typeface="Segoe UI"/>
              </a:rPr>
              <a:t>Arc · internet</a:t>
            </a:r>
          </a:p>
        </p:txBody>
      </p:sp>
      <p:sp>
        <p:nvSpPr>
          <p:cNvPr id="20" name="TextBox 19"/>
          <p:cNvSpPr txBox="1"/>
          <p:nvPr/>
        </p:nvSpPr>
        <p:spPr>
          <a:xfrm>
            <a:off x="9555480" y="4526280"/>
            <a:ext cx="2103120" cy="502920"/>
          </a:xfrm>
          <a:prstGeom prst="rect">
            <a:avLst/>
          </a:prstGeom>
          <a:noFill/>
        </p:spPr>
        <p:txBody>
          <a:bodyPr wrap="square" lIns="0" rIns="0" tIns="0" bIns="0" anchor="t"/>
          <a:lstStyle/>
          <a:p>
            <a:pPr algn="l">
              <a:spcAft>
                <a:spcPts val="0"/>
              </a:spcAft>
            </a:pPr>
            <a:r>
              <a:rPr sz="1100" b="1" i="0">
                <a:solidFill>
                  <a:srgbClr val="E4002B"/>
                </a:solidFill>
                <a:latin typeface="Segoe UI"/>
              </a:rPr>
              <a:t>Arc · ExpressRoute</a:t>
            </a:r>
          </a:p>
          <a:p>
            <a:pPr algn="l">
              <a:spcAft>
                <a:spcPts val="0"/>
              </a:spcAft>
            </a:pPr>
            <a:r>
              <a:rPr sz="1100" b="1" i="0">
                <a:solidFill>
                  <a:srgbClr val="E4002B"/>
                </a:solidFill>
                <a:latin typeface="Segoe UI"/>
              </a:rPr>
              <a:t>no internet egress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Kubernetes everywhere — and the sprawl</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2</a:t>
            </a:r>
          </a:p>
        </p:txBody>
      </p:sp>
      <p:sp>
        <p:nvSpPr>
          <p:cNvPr id="6" name="Rectangle 5"/>
          <p:cNvSpPr/>
          <p:nvPr/>
        </p:nvSpPr>
        <p:spPr>
          <a:xfrm>
            <a:off x="685800" y="1417320"/>
            <a:ext cx="3429000" cy="283464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3429000" cy="914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0976" y="1728216"/>
            <a:ext cx="658368" cy="658368"/>
          </a:xfrm>
          <a:prstGeom prst="ellipse">
            <a:avLst/>
          </a:prstGeom>
          <a:solidFill>
            <a:srgbClr val="0078D4"/>
          </a:solidFill>
          <a:ln w="254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0" i="0">
                <a:solidFill>
                  <a:srgbClr val="FFFFFF"/>
                </a:solidFill>
                <a:latin typeface="Bahnschrift SemiBold"/>
              </a:rPr>
              <a:t>AZ</a:t>
            </a:r>
          </a:p>
        </p:txBody>
      </p:sp>
      <p:sp>
        <p:nvSpPr>
          <p:cNvPr id="9" name="TextBox 8"/>
          <p:cNvSpPr txBox="1"/>
          <p:nvPr/>
        </p:nvSpPr>
        <p:spPr>
          <a:xfrm>
            <a:off x="1783080" y="1828800"/>
            <a:ext cx="2240280" cy="457200"/>
          </a:xfrm>
          <a:prstGeom prst="rect">
            <a:avLst/>
          </a:prstGeom>
          <a:noFill/>
        </p:spPr>
        <p:txBody>
          <a:bodyPr wrap="square" lIns="0" rIns="0" tIns="0" bIns="0" anchor="ctr"/>
          <a:lstStyle/>
          <a:p>
            <a:pPr algn="l">
              <a:spcAft>
                <a:spcPts val="0"/>
              </a:spcAft>
            </a:pPr>
            <a:r>
              <a:rPr sz="1900" b="1" i="0">
                <a:solidFill>
                  <a:srgbClr val="16202C"/>
                </a:solidFill>
                <a:latin typeface="Segoe UI"/>
              </a:rPr>
              <a:t>Azure · AKS</a:t>
            </a:r>
          </a:p>
        </p:txBody>
      </p:sp>
      <p:sp>
        <p:nvSpPr>
          <p:cNvPr id="10" name="TextBox 9"/>
          <p:cNvSpPr txBox="1"/>
          <p:nvPr/>
        </p:nvSpPr>
        <p:spPr>
          <a:xfrm>
            <a:off x="1005840" y="2743200"/>
            <a:ext cx="2880360" cy="1463040"/>
          </a:xfrm>
          <a:prstGeom prst="rect">
            <a:avLst/>
          </a:prstGeom>
          <a:noFill/>
        </p:spPr>
        <p:txBody>
          <a:bodyPr wrap="square" lIns="0" rIns="0" tIns="0" bIns="0">
            <a:spAutoFit/>
          </a:bodyPr>
          <a:lstStyle/>
          <a:p>
            <a:pPr>
              <a:spcAft>
                <a:spcPts val="1000"/>
              </a:spcAft>
            </a:pPr>
            <a:r>
              <a:rPr sz="1000" b="0" i="0">
                <a:solidFill>
                  <a:srgbClr val="0078D4"/>
                </a:solidFill>
                <a:latin typeface="Segoe UI"/>
              </a:rPr>
              <a:t>■  </a:t>
            </a:r>
            <a:r>
              <a:rPr sz="1500" b="0" i="0">
                <a:solidFill>
                  <a:srgbClr val="16202C"/>
                </a:solidFill>
                <a:latin typeface="Segoe UI"/>
              </a:rPr>
              <a:t>Cloud-native apps</a:t>
            </a:r>
          </a:p>
          <a:p>
            <a:pPr>
              <a:spcAft>
                <a:spcPts val="1000"/>
              </a:spcAft>
            </a:pPr>
            <a:r>
              <a:rPr sz="1000" b="0" i="0">
                <a:solidFill>
                  <a:srgbClr val="0078D4"/>
                </a:solidFill>
                <a:latin typeface="Segoe UI"/>
              </a:rPr>
              <a:t>■  </a:t>
            </a:r>
            <a:r>
              <a:rPr sz="1500" b="0" i="0">
                <a:solidFill>
                  <a:srgbClr val="16202C"/>
                </a:solidFill>
                <a:latin typeface="Segoe UI"/>
              </a:rPr>
              <a:t>AI and data services</a:t>
            </a:r>
          </a:p>
          <a:p>
            <a:pPr>
              <a:spcAft>
                <a:spcPts val="1000"/>
              </a:spcAft>
            </a:pPr>
            <a:r>
              <a:rPr sz="1000" b="0" i="0">
                <a:solidFill>
                  <a:srgbClr val="0078D4"/>
                </a:solidFill>
                <a:latin typeface="Segoe UI"/>
              </a:rPr>
              <a:t>■  </a:t>
            </a:r>
            <a:r>
              <a:rPr sz="1500" b="0" i="0">
                <a:solidFill>
                  <a:srgbClr val="16202C"/>
                </a:solidFill>
                <a:latin typeface="Segoe UI"/>
              </a:rPr>
              <a:t>Native Fleet member</a:t>
            </a:r>
          </a:p>
        </p:txBody>
      </p:sp>
      <p:sp>
        <p:nvSpPr>
          <p:cNvPr id="11" name="Rectangle 10"/>
          <p:cNvSpPr/>
          <p:nvPr/>
        </p:nvSpPr>
        <p:spPr>
          <a:xfrm>
            <a:off x="4434840" y="1417320"/>
            <a:ext cx="3429000" cy="283464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840" y="1417320"/>
            <a:ext cx="3429000" cy="9144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016" y="1728216"/>
            <a:ext cx="658368" cy="658368"/>
          </a:xfrm>
          <a:prstGeom prst="ellipse">
            <a:avLst/>
          </a:prstGeom>
          <a:solidFill>
            <a:srgbClr val="FF9900"/>
          </a:solidFill>
          <a:ln w="254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0" i="0">
                <a:solidFill>
                  <a:srgbClr val="0B1622"/>
                </a:solidFill>
                <a:latin typeface="Bahnschrift SemiBold"/>
              </a:rPr>
              <a:t>AWS</a:t>
            </a:r>
          </a:p>
        </p:txBody>
      </p:sp>
      <p:sp>
        <p:nvSpPr>
          <p:cNvPr id="14" name="TextBox 13"/>
          <p:cNvSpPr txBox="1"/>
          <p:nvPr/>
        </p:nvSpPr>
        <p:spPr>
          <a:xfrm>
            <a:off x="5532120" y="1828800"/>
            <a:ext cx="2240280" cy="457200"/>
          </a:xfrm>
          <a:prstGeom prst="rect">
            <a:avLst/>
          </a:prstGeom>
          <a:noFill/>
        </p:spPr>
        <p:txBody>
          <a:bodyPr wrap="square" lIns="0" rIns="0" tIns="0" bIns="0" anchor="ctr"/>
          <a:lstStyle/>
          <a:p>
            <a:pPr algn="l">
              <a:spcAft>
                <a:spcPts val="0"/>
              </a:spcAft>
            </a:pPr>
            <a:r>
              <a:rPr sz="1900" b="1" i="0">
                <a:solidFill>
                  <a:srgbClr val="16202C"/>
                </a:solidFill>
                <a:latin typeface="Segoe UI"/>
              </a:rPr>
              <a:t>AWS · EKS</a:t>
            </a:r>
          </a:p>
        </p:txBody>
      </p:sp>
      <p:sp>
        <p:nvSpPr>
          <p:cNvPr id="15" name="TextBox 14"/>
          <p:cNvSpPr txBox="1"/>
          <p:nvPr/>
        </p:nvSpPr>
        <p:spPr>
          <a:xfrm>
            <a:off x="4754879" y="2743200"/>
            <a:ext cx="2880360" cy="1463040"/>
          </a:xfrm>
          <a:prstGeom prst="rect">
            <a:avLst/>
          </a:prstGeom>
          <a:noFill/>
        </p:spPr>
        <p:txBody>
          <a:bodyPr wrap="square" lIns="0" rIns="0" tIns="0" bIns="0">
            <a:spAutoFit/>
          </a:bodyPr>
          <a:lstStyle/>
          <a:p>
            <a:pPr>
              <a:spcAft>
                <a:spcPts val="1000"/>
              </a:spcAft>
            </a:pPr>
            <a:r>
              <a:rPr sz="1000" b="0" i="0">
                <a:solidFill>
                  <a:srgbClr val="FF9900"/>
                </a:solidFill>
                <a:latin typeface="Segoe UI"/>
              </a:rPr>
              <a:t>■  </a:t>
            </a:r>
            <a:r>
              <a:rPr sz="1500" b="0" i="0">
                <a:solidFill>
                  <a:srgbClr val="16202C"/>
                </a:solidFill>
                <a:latin typeface="Segoe UI"/>
              </a:rPr>
              <a:t>Acquired or existing estates</a:t>
            </a:r>
          </a:p>
          <a:p>
            <a:pPr>
              <a:spcAft>
                <a:spcPts val="1000"/>
              </a:spcAft>
            </a:pPr>
            <a:r>
              <a:rPr sz="1000" b="0" i="0">
                <a:solidFill>
                  <a:srgbClr val="FF9900"/>
                </a:solidFill>
                <a:latin typeface="Segoe UI"/>
              </a:rPr>
              <a:t>■  </a:t>
            </a:r>
            <a:r>
              <a:rPr sz="1500" b="0" i="0">
                <a:solidFill>
                  <a:srgbClr val="16202C"/>
                </a:solidFill>
                <a:latin typeface="Segoe UI"/>
              </a:rPr>
              <a:t>Team and contract choices</a:t>
            </a:r>
          </a:p>
          <a:p>
            <a:pPr>
              <a:spcAft>
                <a:spcPts val="1000"/>
              </a:spcAft>
            </a:pPr>
            <a:r>
              <a:rPr sz="1000" b="0" i="0">
                <a:solidFill>
                  <a:srgbClr val="FF9900"/>
                </a:solidFill>
                <a:latin typeface="Segoe UI"/>
              </a:rPr>
              <a:t>■  </a:t>
            </a:r>
            <a:r>
              <a:rPr sz="1500" b="0" i="0">
                <a:solidFill>
                  <a:srgbClr val="16202C"/>
                </a:solidFill>
                <a:latin typeface="Segoe UI"/>
              </a:rPr>
              <a:t>Different LB, IAM, tooling</a:t>
            </a:r>
          </a:p>
        </p:txBody>
      </p:sp>
      <p:sp>
        <p:nvSpPr>
          <p:cNvPr id="16" name="Rectangle 15"/>
          <p:cNvSpPr/>
          <p:nvPr/>
        </p:nvSpPr>
        <p:spPr>
          <a:xfrm>
            <a:off x="8183879" y="1417320"/>
            <a:ext cx="3429000" cy="283464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79" y="1417320"/>
            <a:ext cx="3429000" cy="914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49056" y="1728216"/>
            <a:ext cx="658368" cy="658368"/>
          </a:xfrm>
          <a:prstGeom prst="ellipse">
            <a:avLst/>
          </a:prstGeom>
          <a:solidFill>
            <a:srgbClr val="E4002B"/>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0" i="0">
                <a:solidFill>
                  <a:srgbClr val="FFFFFF"/>
                </a:solidFill>
                <a:latin typeface="Bahnschrift SemiBold"/>
              </a:rPr>
              <a:t>EQX</a:t>
            </a:r>
          </a:p>
        </p:txBody>
      </p:sp>
      <p:sp>
        <p:nvSpPr>
          <p:cNvPr id="19" name="TextBox 18"/>
          <p:cNvSpPr txBox="1"/>
          <p:nvPr/>
        </p:nvSpPr>
        <p:spPr>
          <a:xfrm>
            <a:off x="9281159" y="1828800"/>
            <a:ext cx="2240280" cy="457200"/>
          </a:xfrm>
          <a:prstGeom prst="rect">
            <a:avLst/>
          </a:prstGeom>
          <a:noFill/>
        </p:spPr>
        <p:txBody>
          <a:bodyPr wrap="square" lIns="0" rIns="0" tIns="0" bIns="0" anchor="ctr"/>
          <a:lstStyle/>
          <a:p>
            <a:pPr algn="l">
              <a:spcAft>
                <a:spcPts val="0"/>
              </a:spcAft>
            </a:pPr>
            <a:r>
              <a:rPr sz="1900" b="1" i="0">
                <a:solidFill>
                  <a:srgbClr val="16202C"/>
                </a:solidFill>
                <a:latin typeface="Segoe UI"/>
              </a:rPr>
              <a:t>Colocation · Equinix</a:t>
            </a:r>
          </a:p>
        </p:txBody>
      </p:sp>
      <p:sp>
        <p:nvSpPr>
          <p:cNvPr id="20" name="TextBox 19"/>
          <p:cNvSpPr txBox="1"/>
          <p:nvPr/>
        </p:nvSpPr>
        <p:spPr>
          <a:xfrm>
            <a:off x="8503919" y="2743200"/>
            <a:ext cx="2880360" cy="1463040"/>
          </a:xfrm>
          <a:prstGeom prst="rect">
            <a:avLst/>
          </a:prstGeom>
          <a:noFill/>
        </p:spPr>
        <p:txBody>
          <a:bodyPr wrap="square" lIns="0" rIns="0" tIns="0" bIns="0">
            <a:spAutoFit/>
          </a:bodyPr>
          <a:lstStyle/>
          <a:p>
            <a:pPr>
              <a:spcAft>
                <a:spcPts val="1000"/>
              </a:spcAft>
            </a:pPr>
            <a:r>
              <a:rPr sz="1000" b="0" i="0">
                <a:solidFill>
                  <a:srgbClr val="E4002B"/>
                </a:solidFill>
                <a:latin typeface="Segoe UI"/>
              </a:rPr>
              <a:t>■  </a:t>
            </a:r>
            <a:r>
              <a:rPr sz="1500" b="0" i="0">
                <a:solidFill>
                  <a:srgbClr val="16202C"/>
                </a:solidFill>
                <a:latin typeface="Segoe UI"/>
              </a:rPr>
              <a:t>Data gravity and latency</a:t>
            </a:r>
          </a:p>
          <a:p>
            <a:pPr>
              <a:spcAft>
                <a:spcPts val="1000"/>
              </a:spcAft>
            </a:pPr>
            <a:r>
              <a:rPr sz="1000" b="0" i="0">
                <a:solidFill>
                  <a:srgbClr val="E4002B"/>
                </a:solidFill>
                <a:latin typeface="Segoe UI"/>
              </a:rPr>
              <a:t>■  </a:t>
            </a:r>
            <a:r>
              <a:rPr sz="1500" b="0" i="0">
                <a:solidFill>
                  <a:srgbClr val="16202C"/>
                </a:solidFill>
                <a:latin typeface="Segoe UI"/>
              </a:rPr>
              <a:t>Sovereignty, GPUs, partners</a:t>
            </a:r>
          </a:p>
          <a:p>
            <a:pPr>
              <a:spcAft>
                <a:spcPts val="1000"/>
              </a:spcAft>
            </a:pPr>
            <a:r>
              <a:rPr sz="1000" b="0" i="0">
                <a:solidFill>
                  <a:srgbClr val="E4002B"/>
                </a:solidFill>
                <a:latin typeface="Segoe UI"/>
              </a:rPr>
              <a:t>■  </a:t>
            </a:r>
            <a:r>
              <a:rPr sz="1500" b="0" i="0">
                <a:solidFill>
                  <a:srgbClr val="16202C"/>
                </a:solidFill>
                <a:latin typeface="Segoe UI"/>
              </a:rPr>
              <a:t>Often no internet egress</a:t>
            </a:r>
          </a:p>
        </p:txBody>
      </p:sp>
      <p:sp>
        <p:nvSpPr>
          <p:cNvPr id="21" name="Rectangle 20"/>
          <p:cNvSpPr/>
          <p:nvPr/>
        </p:nvSpPr>
        <p:spPr>
          <a:xfrm>
            <a:off x="685800" y="4663440"/>
            <a:ext cx="10927080" cy="1005840"/>
          </a:xfrm>
          <a:prstGeom prst="rect">
            <a:avLst/>
          </a:prstGeom>
          <a:solidFill>
            <a:srgbClr val="0B16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663440"/>
            <a:ext cx="10332720" cy="1005840"/>
          </a:xfrm>
          <a:prstGeom prst="rect">
            <a:avLst/>
          </a:prstGeom>
          <a:noFill/>
        </p:spPr>
        <p:txBody>
          <a:bodyPr wrap="square" lIns="0" rIns="0" tIns="0" bIns="0" anchor="ctr"/>
          <a:lstStyle/>
          <a:p>
            <a:pPr algn="l">
              <a:spcAft>
                <a:spcPts val="0"/>
              </a:spcAft>
            </a:pPr>
            <a:r>
              <a:rPr sz="2200" b="0" i="0">
                <a:solidFill>
                  <a:srgbClr val="C9D3DD"/>
                </a:solidFill>
                <a:latin typeface="Bahnschrift SemiBold"/>
              </a:rPr>
              <a:t>Result:  </a:t>
            </a:r>
            <a:r>
              <a:rPr sz="2200" b="1" i="0">
                <a:solidFill>
                  <a:srgbClr val="E4002B"/>
                </a:solidFill>
                <a:latin typeface="Bahnschrift SemiBold"/>
              </a:rPr>
              <a:t>N</a:t>
            </a:r>
            <a:r>
              <a:rPr sz="2200" b="0" i="0">
                <a:solidFill>
                  <a:srgbClr val="FFFFFF"/>
                </a:solidFill>
                <a:latin typeface="Bahnschrift SemiBold"/>
              </a:rPr>
              <a:t> control planes  ·  </a:t>
            </a:r>
            <a:r>
              <a:rPr sz="2200" b="1" i="0">
                <a:solidFill>
                  <a:srgbClr val="E4002B"/>
                </a:solidFill>
                <a:latin typeface="Bahnschrift SemiBold"/>
              </a:rPr>
              <a:t>N</a:t>
            </a:r>
            <a:r>
              <a:rPr sz="2200" b="0" i="0">
                <a:solidFill>
                  <a:srgbClr val="FFFFFF"/>
                </a:solidFill>
                <a:latin typeface="Bahnschrift SemiBold"/>
              </a:rPr>
              <a:t> pipelines  ·  </a:t>
            </a:r>
            <a:r>
              <a:rPr sz="2200" b="1" i="0">
                <a:solidFill>
                  <a:srgbClr val="E4002B"/>
                </a:solidFill>
                <a:latin typeface="Bahnschrift SemiBold"/>
              </a:rPr>
              <a:t>N</a:t>
            </a:r>
            <a:r>
              <a:rPr sz="2200" b="0" i="0">
                <a:solidFill>
                  <a:srgbClr val="FFFFFF"/>
                </a:solidFill>
                <a:latin typeface="Bahnschrift SemiBold"/>
              </a:rPr>
              <a:t> kinds of drift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What good looks like</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3</a:t>
            </a:r>
          </a:p>
        </p:txBody>
      </p:sp>
      <p:sp>
        <p:nvSpPr>
          <p:cNvPr id="6" name="Rectangle 5"/>
          <p:cNvSpPr/>
          <p:nvPr/>
        </p:nvSpPr>
        <p:spPr>
          <a:xfrm>
            <a:off x="685800" y="1463040"/>
            <a:ext cx="5349240" cy="201168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87552" y="2084832"/>
            <a:ext cx="768096" cy="768096"/>
          </a:xfrm>
          <a:prstGeom prst="ellipse">
            <a:avLst/>
          </a:prstGeom>
          <a:solidFill>
            <a:srgbClr val="0B1622"/>
          </a:solidFill>
          <a:ln w="25400">
            <a:solidFill>
              <a:srgbClr val="0B162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Bahnschrift SemiBold"/>
              </a:rPr>
              <a:t>1</a:t>
            </a:r>
          </a:p>
        </p:txBody>
      </p:sp>
      <p:sp>
        <p:nvSpPr>
          <p:cNvPr id="8" name="TextBox 7"/>
          <p:cNvSpPr txBox="1"/>
          <p:nvPr/>
        </p:nvSpPr>
        <p:spPr>
          <a:xfrm>
            <a:off x="2011680" y="1847088"/>
            <a:ext cx="3840480" cy="457200"/>
          </a:xfrm>
          <a:prstGeom prst="rect">
            <a:avLst/>
          </a:prstGeom>
          <a:noFill/>
        </p:spPr>
        <p:txBody>
          <a:bodyPr wrap="square" lIns="0" rIns="0" tIns="0" bIns="0" anchor="t"/>
          <a:lstStyle/>
          <a:p>
            <a:pPr algn="l">
              <a:spcAft>
                <a:spcPts val="0"/>
              </a:spcAft>
            </a:pPr>
            <a:r>
              <a:rPr sz="2100" b="1" i="0">
                <a:solidFill>
                  <a:srgbClr val="16202C"/>
                </a:solidFill>
                <a:latin typeface="Segoe UI"/>
              </a:rPr>
              <a:t>One control plane</a:t>
            </a:r>
          </a:p>
        </p:txBody>
      </p:sp>
      <p:sp>
        <p:nvSpPr>
          <p:cNvPr id="9" name="TextBox 8"/>
          <p:cNvSpPr txBox="1"/>
          <p:nvPr/>
        </p:nvSpPr>
        <p:spPr>
          <a:xfrm>
            <a:off x="2011680" y="2350008"/>
            <a:ext cx="3840480" cy="868680"/>
          </a:xfrm>
          <a:prstGeom prst="rect">
            <a:avLst/>
          </a:prstGeom>
          <a:noFill/>
        </p:spPr>
        <p:txBody>
          <a:bodyPr wrap="square" lIns="0" rIns="0" tIns="0" bIns="0" anchor="t"/>
          <a:lstStyle/>
          <a:p>
            <a:pPr algn="l">
              <a:spcAft>
                <a:spcPts val="0"/>
              </a:spcAft>
            </a:pPr>
            <a:r>
              <a:rPr sz="1500" b="0" i="0">
                <a:solidFill>
                  <a:srgbClr val="5E6B7A"/>
                </a:solidFill>
                <a:latin typeface="Segoe UI"/>
              </a:rPr>
              <a:t>Azure Kubernetes Fleet Manager hub for every cluster, wherever it runs.</a:t>
            </a:r>
          </a:p>
        </p:txBody>
      </p:sp>
      <p:sp>
        <p:nvSpPr>
          <p:cNvPr id="10" name="Rectangle 9"/>
          <p:cNvSpPr/>
          <p:nvPr/>
        </p:nvSpPr>
        <p:spPr>
          <a:xfrm>
            <a:off x="6263640" y="1463040"/>
            <a:ext cx="5349240" cy="201168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65392" y="2084832"/>
            <a:ext cx="768096" cy="768096"/>
          </a:xfrm>
          <a:prstGeom prst="ellipse">
            <a:avLst/>
          </a:prstGeom>
          <a:solidFill>
            <a:srgbClr val="0B1622"/>
          </a:solidFill>
          <a:ln w="25400">
            <a:solidFill>
              <a:srgbClr val="0B162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Bahnschrift SemiBold"/>
              </a:rPr>
              <a:t>2</a:t>
            </a:r>
          </a:p>
        </p:txBody>
      </p:sp>
      <p:sp>
        <p:nvSpPr>
          <p:cNvPr id="12" name="TextBox 11"/>
          <p:cNvSpPr txBox="1"/>
          <p:nvPr/>
        </p:nvSpPr>
        <p:spPr>
          <a:xfrm>
            <a:off x="7589519" y="1847088"/>
            <a:ext cx="3840480" cy="457200"/>
          </a:xfrm>
          <a:prstGeom prst="rect">
            <a:avLst/>
          </a:prstGeom>
          <a:noFill/>
        </p:spPr>
        <p:txBody>
          <a:bodyPr wrap="square" lIns="0" rIns="0" tIns="0" bIns="0" anchor="t"/>
          <a:lstStyle/>
          <a:p>
            <a:pPr algn="l">
              <a:spcAft>
                <a:spcPts val="0"/>
              </a:spcAft>
            </a:pPr>
            <a:r>
              <a:rPr sz="2100" b="1" i="0">
                <a:solidFill>
                  <a:srgbClr val="16202C"/>
                </a:solidFill>
                <a:latin typeface="Segoe UI"/>
              </a:rPr>
              <a:t>One app definition</a:t>
            </a:r>
          </a:p>
        </p:txBody>
      </p:sp>
      <p:sp>
        <p:nvSpPr>
          <p:cNvPr id="13" name="TextBox 12"/>
          <p:cNvSpPr txBox="1"/>
          <p:nvPr/>
        </p:nvSpPr>
        <p:spPr>
          <a:xfrm>
            <a:off x="7589519" y="2350008"/>
            <a:ext cx="3840480" cy="868680"/>
          </a:xfrm>
          <a:prstGeom prst="rect">
            <a:avLst/>
          </a:prstGeom>
          <a:noFill/>
        </p:spPr>
        <p:txBody>
          <a:bodyPr wrap="square" lIns="0" rIns="0" tIns="0" bIns="0" anchor="t"/>
          <a:lstStyle/>
          <a:p>
            <a:pPr algn="l">
              <a:spcAft>
                <a:spcPts val="0"/>
              </a:spcAft>
            </a:pPr>
            <a:r>
              <a:rPr sz="1500" b="0" i="0">
                <a:solidFill>
                  <a:srgbClr val="5E6B7A"/>
                </a:solidFill>
                <a:latin typeface="Segoe UI"/>
              </a:rPr>
              <a:t>Cloud-neutral manifests, placed everywhere, never forked.</a:t>
            </a:r>
          </a:p>
        </p:txBody>
      </p:sp>
      <p:sp>
        <p:nvSpPr>
          <p:cNvPr id="14" name="Rectangle 13"/>
          <p:cNvSpPr/>
          <p:nvPr/>
        </p:nvSpPr>
        <p:spPr>
          <a:xfrm>
            <a:off x="685800" y="3749039"/>
            <a:ext cx="5349240" cy="201168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87552" y="4370831"/>
            <a:ext cx="768096" cy="768096"/>
          </a:xfrm>
          <a:prstGeom prst="ellipse">
            <a:avLst/>
          </a:prstGeom>
          <a:solidFill>
            <a:srgbClr val="0B1622"/>
          </a:solidFill>
          <a:ln w="25400">
            <a:solidFill>
              <a:srgbClr val="0B162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Bahnschrift SemiBold"/>
              </a:rPr>
              <a:t>3</a:t>
            </a:r>
          </a:p>
        </p:txBody>
      </p:sp>
      <p:sp>
        <p:nvSpPr>
          <p:cNvPr id="16" name="TextBox 15"/>
          <p:cNvSpPr txBox="1"/>
          <p:nvPr/>
        </p:nvSpPr>
        <p:spPr>
          <a:xfrm>
            <a:off x="2011680" y="4133087"/>
            <a:ext cx="3840480" cy="457200"/>
          </a:xfrm>
          <a:prstGeom prst="rect">
            <a:avLst/>
          </a:prstGeom>
          <a:noFill/>
        </p:spPr>
        <p:txBody>
          <a:bodyPr wrap="square" lIns="0" rIns="0" tIns="0" bIns="0" anchor="t"/>
          <a:lstStyle/>
          <a:p>
            <a:pPr algn="l">
              <a:spcAft>
                <a:spcPts val="0"/>
              </a:spcAft>
            </a:pPr>
            <a:r>
              <a:rPr sz="2100" b="1" i="0">
                <a:solidFill>
                  <a:srgbClr val="16202C"/>
                </a:solidFill>
                <a:latin typeface="Segoe UI"/>
              </a:rPr>
              <a:t>Differences as data</a:t>
            </a:r>
          </a:p>
        </p:txBody>
      </p:sp>
      <p:sp>
        <p:nvSpPr>
          <p:cNvPr id="17" name="TextBox 16"/>
          <p:cNvSpPr txBox="1"/>
          <p:nvPr/>
        </p:nvSpPr>
        <p:spPr>
          <a:xfrm>
            <a:off x="2011680" y="4636007"/>
            <a:ext cx="3840480" cy="868680"/>
          </a:xfrm>
          <a:prstGeom prst="rect">
            <a:avLst/>
          </a:prstGeom>
          <a:noFill/>
        </p:spPr>
        <p:txBody>
          <a:bodyPr wrap="square" lIns="0" rIns="0" tIns="0" bIns="0" anchor="t"/>
          <a:lstStyle/>
          <a:p>
            <a:pPr algn="l">
              <a:spcAft>
                <a:spcPts val="0"/>
              </a:spcAft>
            </a:pPr>
            <a:r>
              <a:rPr sz="1500" b="0" i="0">
                <a:solidFill>
                  <a:srgbClr val="5E6B7A"/>
                </a:solidFill>
                <a:latin typeface="Segoe UI"/>
              </a:rPr>
              <a:t>Label-selected overrides for load balancers, banners and settings.</a:t>
            </a:r>
          </a:p>
        </p:txBody>
      </p:sp>
      <p:sp>
        <p:nvSpPr>
          <p:cNvPr id="18" name="Rectangle 17"/>
          <p:cNvSpPr/>
          <p:nvPr/>
        </p:nvSpPr>
        <p:spPr>
          <a:xfrm>
            <a:off x="6263640" y="3749039"/>
            <a:ext cx="5349240" cy="2011680"/>
          </a:xfrm>
          <a:prstGeom prst="rect">
            <a:avLst/>
          </a:prstGeom>
          <a:solidFill>
            <a:srgbClr val="FDE9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65392" y="4370831"/>
            <a:ext cx="768096" cy="768096"/>
          </a:xfrm>
          <a:prstGeom prst="ellipse">
            <a:avLst/>
          </a:prstGeom>
          <a:solidFill>
            <a:srgbClr val="E4002B"/>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Bahnschrift SemiBold"/>
              </a:rPr>
              <a:t>4</a:t>
            </a:r>
          </a:p>
        </p:txBody>
      </p:sp>
      <p:sp>
        <p:nvSpPr>
          <p:cNvPr id="20" name="TextBox 19"/>
          <p:cNvSpPr txBox="1"/>
          <p:nvPr/>
        </p:nvSpPr>
        <p:spPr>
          <a:xfrm>
            <a:off x="7589519" y="4133087"/>
            <a:ext cx="3840480" cy="457200"/>
          </a:xfrm>
          <a:prstGeom prst="rect">
            <a:avLst/>
          </a:prstGeom>
          <a:noFill/>
        </p:spPr>
        <p:txBody>
          <a:bodyPr wrap="square" lIns="0" rIns="0" tIns="0" bIns="0" anchor="t"/>
          <a:lstStyle/>
          <a:p>
            <a:pPr algn="l">
              <a:spcAft>
                <a:spcPts val="0"/>
              </a:spcAft>
            </a:pPr>
            <a:r>
              <a:rPr sz="2100" b="1" i="0">
                <a:solidFill>
                  <a:srgbClr val="16202C"/>
                </a:solidFill>
                <a:latin typeface="Segoe UI"/>
              </a:rPr>
              <a:t>Private where it matters</a:t>
            </a:r>
          </a:p>
        </p:txBody>
      </p:sp>
      <p:sp>
        <p:nvSpPr>
          <p:cNvPr id="21" name="TextBox 20"/>
          <p:cNvSpPr txBox="1"/>
          <p:nvPr/>
        </p:nvSpPr>
        <p:spPr>
          <a:xfrm>
            <a:off x="7589519" y="4636007"/>
            <a:ext cx="3840480" cy="868680"/>
          </a:xfrm>
          <a:prstGeom prst="rect">
            <a:avLst/>
          </a:prstGeom>
          <a:noFill/>
        </p:spPr>
        <p:txBody>
          <a:bodyPr wrap="square" lIns="0" rIns="0" tIns="0" bIns="0" anchor="t"/>
          <a:lstStyle/>
          <a:p>
            <a:pPr algn="l">
              <a:spcAft>
                <a:spcPts val="0"/>
              </a:spcAft>
            </a:pPr>
            <a:r>
              <a:rPr sz="1500" b="0" i="0">
                <a:solidFill>
                  <a:srgbClr val="16202C"/>
                </a:solidFill>
                <a:latin typeface="Segoe UI"/>
              </a:rPr>
              <a:t>Colocation traffic to Azure never touches the public internet.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Architecture</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4</a:t>
            </a:r>
          </a:p>
        </p:txBody>
      </p:sp>
      <p:sp>
        <p:nvSpPr>
          <p:cNvPr id="6" name="Rectangle 5"/>
          <p:cNvSpPr/>
          <p:nvPr/>
        </p:nvSpPr>
        <p:spPr>
          <a:xfrm>
            <a:off x="4023360" y="1325880"/>
            <a:ext cx="4114800" cy="960120"/>
          </a:xfrm>
          <a:prstGeom prst="rect">
            <a:avLst/>
          </a:prstGeom>
          <a:solidFill>
            <a:srgbClr val="0B16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23360" y="1371600"/>
            <a:ext cx="4114800" cy="457200"/>
          </a:xfrm>
          <a:prstGeom prst="rect">
            <a:avLst/>
          </a:prstGeom>
          <a:noFill/>
        </p:spPr>
        <p:txBody>
          <a:bodyPr wrap="square" lIns="0" rIns="0" tIns="0" bIns="0" anchor="t"/>
          <a:lstStyle/>
          <a:p>
            <a:pPr algn="ctr">
              <a:spcAft>
                <a:spcPts val="0"/>
              </a:spcAft>
            </a:pPr>
            <a:r>
              <a:rPr sz="1900" b="0" i="0">
                <a:solidFill>
                  <a:srgbClr val="FFFFFF"/>
                </a:solidFill>
                <a:latin typeface="Bahnschrift SemiBold"/>
              </a:rPr>
              <a:t>Fleet Manager hub</a:t>
            </a:r>
          </a:p>
        </p:txBody>
      </p:sp>
      <p:sp>
        <p:nvSpPr>
          <p:cNvPr id="8" name="TextBox 7"/>
          <p:cNvSpPr txBox="1"/>
          <p:nvPr/>
        </p:nvSpPr>
        <p:spPr>
          <a:xfrm>
            <a:off x="4023360" y="1810512"/>
            <a:ext cx="4114800" cy="365760"/>
          </a:xfrm>
          <a:prstGeom prst="rect">
            <a:avLst/>
          </a:prstGeom>
          <a:noFill/>
        </p:spPr>
        <p:txBody>
          <a:bodyPr wrap="square" lIns="0" rIns="0" tIns="0" bIns="0" anchor="t"/>
          <a:lstStyle/>
          <a:p>
            <a:pPr algn="ctr">
              <a:spcAft>
                <a:spcPts val="0"/>
              </a:spcAft>
            </a:pPr>
            <a:r>
              <a:rPr sz="1200" b="0" i="0">
                <a:solidFill>
                  <a:srgbClr val="C9D3DD"/>
                </a:solidFill>
                <a:latin typeface="Segoe UI"/>
              </a:rPr>
              <a:t>ClusterResourcePlacement  ·  ResourceOverrides</a:t>
            </a:r>
          </a:p>
        </p:txBody>
      </p:sp>
      <p:cxnSp>
        <p:nvCxnSpPr>
          <p:cNvPr id="9" name="Connector 8"/>
          <p:cNvCxnSpPr/>
          <p:nvPr/>
        </p:nvCxnSpPr>
        <p:spPr>
          <a:xfrm flipH="1">
            <a:off x="2423160" y="2286000"/>
            <a:ext cx="3657600" cy="914400"/>
          </a:xfrm>
          <a:prstGeom prst="line">
            <a:avLst/>
          </a:prstGeom>
          <a:ln w="28575">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080759" y="2286000"/>
            <a:ext cx="1" cy="914400"/>
          </a:xfrm>
          <a:prstGeom prst="line">
            <a:avLst/>
          </a:prstGeom>
          <a:ln w="28575">
            <a:solidFill>
              <a:srgbClr val="8FA1B3"/>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80760" y="2286000"/>
            <a:ext cx="3657600" cy="914400"/>
          </a:xfrm>
          <a:prstGeom prst="line">
            <a:avLst/>
          </a:prstGeom>
          <a:ln w="57150">
            <a:solidFill>
              <a:srgbClr val="E4002B"/>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777240" y="3291840"/>
            <a:ext cx="3291840" cy="141732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291840"/>
            <a:ext cx="3291840" cy="914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474720"/>
            <a:ext cx="2743200" cy="411480"/>
          </a:xfrm>
          <a:prstGeom prst="rect">
            <a:avLst/>
          </a:prstGeom>
          <a:noFill/>
        </p:spPr>
        <p:txBody>
          <a:bodyPr wrap="square" lIns="0" rIns="0" tIns="0" bIns="0" anchor="t"/>
          <a:lstStyle/>
          <a:p>
            <a:pPr algn="l">
              <a:spcAft>
                <a:spcPts val="0"/>
              </a:spcAft>
            </a:pPr>
            <a:r>
              <a:rPr sz="1800" b="1" i="0">
                <a:solidFill>
                  <a:srgbClr val="16202C"/>
                </a:solidFill>
                <a:latin typeface="Cascadia Code"/>
              </a:rPr>
              <a:t>aks-demo</a:t>
            </a:r>
          </a:p>
        </p:txBody>
      </p:sp>
      <p:sp>
        <p:nvSpPr>
          <p:cNvPr id="15" name="TextBox 14"/>
          <p:cNvSpPr txBox="1"/>
          <p:nvPr/>
        </p:nvSpPr>
        <p:spPr>
          <a:xfrm>
            <a:off x="1051560" y="3931920"/>
            <a:ext cx="2834640" cy="731520"/>
          </a:xfrm>
          <a:prstGeom prst="rect">
            <a:avLst/>
          </a:prstGeom>
          <a:noFill/>
        </p:spPr>
        <p:txBody>
          <a:bodyPr wrap="square" lIns="0" rIns="0" tIns="0" bIns="0" anchor="t"/>
          <a:lstStyle/>
          <a:p>
            <a:pPr algn="l">
              <a:spcAft>
                <a:spcPts val="0"/>
              </a:spcAft>
            </a:pPr>
            <a:r>
              <a:rPr sz="1300" b="0" i="0">
                <a:solidFill>
                  <a:srgbClr val="5E6B7A"/>
                </a:solidFill>
                <a:latin typeface="Segoe UI"/>
              </a:rPr>
              <a:t>Azure · westus2</a:t>
            </a:r>
          </a:p>
          <a:p>
            <a:pPr algn="l">
              <a:spcAft>
                <a:spcPts val="0"/>
              </a:spcAft>
            </a:pPr>
            <a:r>
              <a:rPr sz="1300" b="0" i="0">
                <a:solidFill>
                  <a:srgbClr val="5E6B7A"/>
                </a:solidFill>
                <a:latin typeface="Segoe UI"/>
              </a:rPr>
              <a:t>Native Fleet member</a:t>
            </a:r>
          </a:p>
        </p:txBody>
      </p:sp>
      <p:sp>
        <p:nvSpPr>
          <p:cNvPr id="16" name="Rectangle 15"/>
          <p:cNvSpPr/>
          <p:nvPr/>
        </p:nvSpPr>
        <p:spPr>
          <a:xfrm>
            <a:off x="4434840" y="3291840"/>
            <a:ext cx="3291840" cy="141732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34840" y="3291840"/>
            <a:ext cx="3291840" cy="9144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59" y="3474720"/>
            <a:ext cx="2743200" cy="411480"/>
          </a:xfrm>
          <a:prstGeom prst="rect">
            <a:avLst/>
          </a:prstGeom>
          <a:noFill/>
        </p:spPr>
        <p:txBody>
          <a:bodyPr wrap="square" lIns="0" rIns="0" tIns="0" bIns="0" anchor="t"/>
          <a:lstStyle/>
          <a:p>
            <a:pPr algn="l">
              <a:spcAft>
                <a:spcPts val="0"/>
              </a:spcAft>
            </a:pPr>
            <a:r>
              <a:rPr sz="1800" b="1" i="0">
                <a:solidFill>
                  <a:srgbClr val="16202C"/>
                </a:solidFill>
                <a:latin typeface="Cascadia Code"/>
              </a:rPr>
              <a:t>eks-demo</a:t>
            </a:r>
          </a:p>
        </p:txBody>
      </p:sp>
      <p:sp>
        <p:nvSpPr>
          <p:cNvPr id="19" name="TextBox 18"/>
          <p:cNvSpPr txBox="1"/>
          <p:nvPr/>
        </p:nvSpPr>
        <p:spPr>
          <a:xfrm>
            <a:off x="4709159" y="3931920"/>
            <a:ext cx="2834640" cy="731520"/>
          </a:xfrm>
          <a:prstGeom prst="rect">
            <a:avLst/>
          </a:prstGeom>
          <a:noFill/>
        </p:spPr>
        <p:txBody>
          <a:bodyPr wrap="square" lIns="0" rIns="0" tIns="0" bIns="0" anchor="t"/>
          <a:lstStyle/>
          <a:p>
            <a:pPr algn="l">
              <a:spcAft>
                <a:spcPts val="0"/>
              </a:spcAft>
            </a:pPr>
            <a:r>
              <a:rPr sz="1300" b="0" i="0">
                <a:solidFill>
                  <a:srgbClr val="5E6B7A"/>
                </a:solidFill>
                <a:latin typeface="Segoe UI"/>
              </a:rPr>
              <a:t>AWS · us-west-2</a:t>
            </a:r>
          </a:p>
          <a:p>
            <a:pPr algn="l">
              <a:spcAft>
                <a:spcPts val="0"/>
              </a:spcAft>
            </a:pPr>
            <a:r>
              <a:rPr sz="1300" b="0" i="0">
                <a:solidFill>
                  <a:srgbClr val="5E6B7A"/>
                </a:solidFill>
                <a:latin typeface="Segoe UI"/>
              </a:rPr>
              <a:t>Arc over the internet</a:t>
            </a:r>
          </a:p>
        </p:txBody>
      </p:sp>
      <p:sp>
        <p:nvSpPr>
          <p:cNvPr id="20" name="Rectangle 19"/>
          <p:cNvSpPr/>
          <p:nvPr/>
        </p:nvSpPr>
        <p:spPr>
          <a:xfrm>
            <a:off x="8092440" y="3291840"/>
            <a:ext cx="3291840" cy="141732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2440" y="3291840"/>
            <a:ext cx="3291840" cy="914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3474720"/>
            <a:ext cx="2743200" cy="411480"/>
          </a:xfrm>
          <a:prstGeom prst="rect">
            <a:avLst/>
          </a:prstGeom>
          <a:noFill/>
        </p:spPr>
        <p:txBody>
          <a:bodyPr wrap="square" lIns="0" rIns="0" tIns="0" bIns="0" anchor="t"/>
          <a:lstStyle/>
          <a:p>
            <a:pPr algn="l">
              <a:spcAft>
                <a:spcPts val="0"/>
              </a:spcAft>
            </a:pPr>
            <a:r>
              <a:rPr sz="1800" b="1" i="0">
                <a:solidFill>
                  <a:srgbClr val="16202C"/>
                </a:solidFill>
                <a:latin typeface="Cascadia Code"/>
              </a:rPr>
              <a:t>equinix-demo</a:t>
            </a:r>
          </a:p>
        </p:txBody>
      </p:sp>
      <p:sp>
        <p:nvSpPr>
          <p:cNvPr id="23" name="TextBox 22"/>
          <p:cNvSpPr txBox="1"/>
          <p:nvPr/>
        </p:nvSpPr>
        <p:spPr>
          <a:xfrm>
            <a:off x="8366760" y="3931920"/>
            <a:ext cx="2834640" cy="731520"/>
          </a:xfrm>
          <a:prstGeom prst="rect">
            <a:avLst/>
          </a:prstGeom>
          <a:noFill/>
        </p:spPr>
        <p:txBody>
          <a:bodyPr wrap="square" lIns="0" rIns="0" tIns="0" bIns="0" anchor="t"/>
          <a:lstStyle/>
          <a:p>
            <a:pPr algn="l">
              <a:spcAft>
                <a:spcPts val="0"/>
              </a:spcAft>
            </a:pPr>
            <a:r>
              <a:rPr sz="1300" b="0" i="0">
                <a:solidFill>
                  <a:srgbClr val="5E6B7A"/>
                </a:solidFill>
                <a:latin typeface="Segoe UI"/>
              </a:rPr>
              <a:t>K3s in an Equinix SV cage</a:t>
            </a:r>
          </a:p>
          <a:p>
            <a:pPr algn="l">
              <a:spcAft>
                <a:spcPts val="0"/>
              </a:spcAft>
            </a:pPr>
            <a:r>
              <a:rPr sz="1300" b="0" i="0">
                <a:solidFill>
                  <a:srgbClr val="5E6B7A"/>
                </a:solidFill>
                <a:latin typeface="Segoe UI"/>
              </a:rPr>
              <a:t>Arc + Arc gateway over ExpressRoute</a:t>
            </a:r>
          </a:p>
        </p:txBody>
      </p:sp>
      <p:sp>
        <p:nvSpPr>
          <p:cNvPr id="24" name="Rounded Rectangle 23"/>
          <p:cNvSpPr/>
          <p:nvPr/>
        </p:nvSpPr>
        <p:spPr>
          <a:xfrm>
            <a:off x="7863840" y="4937760"/>
            <a:ext cx="3749039" cy="1051560"/>
          </a:xfrm>
          <a:prstGeom prst="roundRect">
            <a:avLst>
              <a:gd name="adj" fmla="val 6000"/>
            </a:avLst>
          </a:prstGeom>
          <a:solidFill>
            <a:srgbClr val="FDE9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4937760"/>
            <a:ext cx="3429000" cy="1051560"/>
          </a:xfrm>
          <a:prstGeom prst="rect">
            <a:avLst/>
          </a:prstGeom>
          <a:noFill/>
        </p:spPr>
        <p:txBody>
          <a:bodyPr wrap="square" lIns="0" rIns="0" tIns="0" bIns="0" anchor="ctr"/>
          <a:lstStyle/>
          <a:p>
            <a:pPr algn="l">
              <a:spcAft>
                <a:spcPts val="200"/>
              </a:spcAft>
            </a:pPr>
            <a:r>
              <a:rPr sz="1200" b="1" i="0">
                <a:solidFill>
                  <a:srgbClr val="E4002B"/>
                </a:solidFill>
                <a:latin typeface="Segoe UI"/>
              </a:rPr>
              <a:t>No internet egress. </a:t>
            </a:r>
          </a:p>
          <a:p>
            <a:pPr algn="l">
              <a:spcAft>
                <a:spcPts val="200"/>
              </a:spcAft>
            </a:pPr>
            <a:r>
              <a:rPr sz="1200" b="0" i="0">
                <a:solidFill>
                  <a:srgbClr val="16202C"/>
                </a:solidFill>
                <a:latin typeface="Segoe UI"/>
              </a:rPr>
              <a:t>Equinix Fabric → ExpressRoute → hub VNet → egress proxy → Arc gateway</a:t>
            </a:r>
          </a:p>
        </p:txBody>
      </p:sp>
      <p:sp>
        <p:nvSpPr>
          <p:cNvPr id="26" name="TextBox 25"/>
          <p:cNvSpPr txBox="1"/>
          <p:nvPr/>
        </p:nvSpPr>
        <p:spPr>
          <a:xfrm>
            <a:off x="777240" y="4937760"/>
            <a:ext cx="6766560" cy="1051560"/>
          </a:xfrm>
          <a:prstGeom prst="rect">
            <a:avLst/>
          </a:prstGeom>
          <a:noFill/>
        </p:spPr>
        <p:txBody>
          <a:bodyPr wrap="square" lIns="0" rIns="0" tIns="0" bIns="0" anchor="ctr"/>
          <a:lstStyle/>
          <a:p>
            <a:pPr algn="l">
              <a:spcAft>
                <a:spcPts val="400"/>
              </a:spcAft>
            </a:pPr>
            <a:r>
              <a:rPr sz="1400" b="0" i="0">
                <a:solidFill>
                  <a:srgbClr val="5E6B7A"/>
                </a:solidFill>
                <a:latin typeface="Segoe UI"/>
              </a:rPr>
              <a:t>Every member runs its own full copy of Online Boutique, with its own Redis.</a:t>
            </a:r>
          </a:p>
          <a:p>
            <a:pPr algn="l">
              <a:spcAft>
                <a:spcPts val="400"/>
              </a:spcAft>
            </a:pPr>
            <a:r>
              <a:rPr sz="1400" b="0" i="0">
                <a:solidFill>
                  <a:srgbClr val="5E6B7A"/>
                </a:solidFill>
                <a:latin typeface="Segoe UI"/>
              </a:rPr>
              <a:t>The hub places it; no request ever crosses clusters.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622"/>
        </a:solidFill>
        <a:effectLst/>
      </p:bgPr>
    </p:bg>
    <p:spTree>
      <p:nvGrpSpPr>
        <p:cNvPr id="1" name=""/>
        <p:cNvGrpSpPr/>
        <p:nvPr/>
      </p:nvGrpSpPr>
      <p:grpSpPr/>
      <p:sp>
        <p:nvSpPr>
          <p:cNvPr id="2" name="TextBox 1"/>
          <p:cNvSpPr txBox="1"/>
          <p:nvPr/>
        </p:nvSpPr>
        <p:spPr>
          <a:xfrm>
            <a:off x="685800" y="411480"/>
            <a:ext cx="10789920" cy="731520"/>
          </a:xfrm>
          <a:prstGeom prst="rect">
            <a:avLst/>
          </a:prstGeom>
          <a:noFill/>
        </p:spPr>
        <p:txBody>
          <a:bodyPr wrap="square" lIns="0" rIns="0" tIns="0" bIns="0" anchor="ctr"/>
          <a:lstStyle/>
          <a:p>
            <a:pPr algn="l">
              <a:spcAft>
                <a:spcPts val="0"/>
              </a:spcAft>
            </a:pPr>
            <a:r>
              <a:rPr sz="3600" b="0" i="0">
                <a:solidFill>
                  <a:srgbClr val="FFFFFF"/>
                </a:solidFill>
                <a:latin typeface="Bahnschrift SemiBold"/>
              </a:rPr>
              <a:t>The private path</a:t>
            </a:r>
          </a:p>
        </p:txBody>
      </p:sp>
      <p:sp>
        <p:nvSpPr>
          <p:cNvPr id="3" name="TextBox 2"/>
          <p:cNvSpPr txBox="1"/>
          <p:nvPr/>
        </p:nvSpPr>
        <p:spPr>
          <a:xfrm>
            <a:off x="685800" y="1097280"/>
            <a:ext cx="10789920" cy="457200"/>
          </a:xfrm>
          <a:prstGeom prst="rect">
            <a:avLst/>
          </a:prstGeom>
          <a:noFill/>
        </p:spPr>
        <p:txBody>
          <a:bodyPr wrap="square" lIns="0" rIns="0" tIns="0" bIns="0" anchor="t"/>
          <a:lstStyle/>
          <a:p>
            <a:pPr algn="l">
              <a:spcAft>
                <a:spcPts val="0"/>
              </a:spcAft>
            </a:pPr>
            <a:r>
              <a:rPr sz="1700" b="0" i="0">
                <a:solidFill>
                  <a:srgbClr val="C9D3DD"/>
                </a:solidFill>
                <a:latin typeface="Segoe UI"/>
              </a:rPr>
              <a:t>Zero internet egress from the cage. End-to-end TLS — no inspection.</a:t>
            </a:r>
          </a:p>
        </p:txBody>
      </p:sp>
      <p:sp>
        <p:nvSpPr>
          <p:cNvPr id="4" name="Rounded Rectangle 3"/>
          <p:cNvSpPr/>
          <p:nvPr/>
        </p:nvSpPr>
        <p:spPr>
          <a:xfrm>
            <a:off x="502920" y="2103120"/>
            <a:ext cx="4572000" cy="2514600"/>
          </a:xfrm>
          <a:prstGeom prst="roundRect">
            <a:avLst>
              <a:gd name="adj" fmla="val 4000"/>
            </a:avLst>
          </a:prstGeom>
          <a:solidFill>
            <a:srgbClr val="15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03720" y="2103120"/>
            <a:ext cx="4572000" cy="2514600"/>
          </a:xfrm>
          <a:prstGeom prst="roundRect">
            <a:avLst>
              <a:gd name="adj" fmla="val 4000"/>
            </a:avLst>
          </a:prstGeom>
          <a:solidFill>
            <a:srgbClr val="15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194560"/>
            <a:ext cx="3291840" cy="320040"/>
          </a:xfrm>
          <a:prstGeom prst="rect">
            <a:avLst/>
          </a:prstGeom>
          <a:noFill/>
        </p:spPr>
        <p:txBody>
          <a:bodyPr wrap="square" lIns="0" rIns="0" tIns="0" bIns="0" anchor="t"/>
          <a:lstStyle/>
          <a:p>
            <a:pPr algn="l">
              <a:spcAft>
                <a:spcPts val="0"/>
              </a:spcAft>
            </a:pPr>
            <a:r>
              <a:rPr sz="1100" b="1" i="0">
                <a:solidFill>
                  <a:srgbClr val="E4002B"/>
                </a:solidFill>
                <a:latin typeface="Segoe UI"/>
              </a:rPr>
              <a:t>EQUINIX SV CAGE</a:t>
            </a:r>
          </a:p>
        </p:txBody>
      </p:sp>
      <p:sp>
        <p:nvSpPr>
          <p:cNvPr id="7" name="TextBox 6"/>
          <p:cNvSpPr txBox="1"/>
          <p:nvPr/>
        </p:nvSpPr>
        <p:spPr>
          <a:xfrm>
            <a:off x="6995160" y="2194560"/>
            <a:ext cx="3291840" cy="320040"/>
          </a:xfrm>
          <a:prstGeom prst="rect">
            <a:avLst/>
          </a:prstGeom>
          <a:noFill/>
        </p:spPr>
        <p:txBody>
          <a:bodyPr wrap="square" lIns="0" rIns="0" tIns="0" bIns="0" anchor="t"/>
          <a:lstStyle/>
          <a:p>
            <a:pPr algn="l">
              <a:spcAft>
                <a:spcPts val="0"/>
              </a:spcAft>
            </a:pPr>
            <a:r>
              <a:rPr sz="1100" b="1" i="0">
                <a:solidFill>
                  <a:srgbClr val="6CC7E0"/>
                </a:solidFill>
                <a:latin typeface="Segoe UI"/>
              </a:rPr>
              <a:t>AZURE HUB  ·  WESTUS2</a:t>
            </a:r>
          </a:p>
        </p:txBody>
      </p:sp>
      <p:sp>
        <p:nvSpPr>
          <p:cNvPr id="8" name="TextBox 7"/>
          <p:cNvSpPr txBox="1"/>
          <p:nvPr/>
        </p:nvSpPr>
        <p:spPr>
          <a:xfrm>
            <a:off x="5166359" y="2194560"/>
            <a:ext cx="1645920" cy="320040"/>
          </a:xfrm>
          <a:prstGeom prst="rect">
            <a:avLst/>
          </a:prstGeom>
          <a:noFill/>
        </p:spPr>
        <p:txBody>
          <a:bodyPr wrap="square" lIns="0" rIns="0" tIns="0" bIns="0" anchor="t"/>
          <a:lstStyle/>
          <a:p>
            <a:pPr algn="ctr">
              <a:spcAft>
                <a:spcPts val="0"/>
              </a:spcAft>
            </a:pPr>
            <a:r>
              <a:rPr sz="1000" b="1" i="0">
                <a:solidFill>
                  <a:srgbClr val="C9D3DD"/>
                </a:solidFill>
                <a:latin typeface="Segoe UI"/>
              </a:rPr>
              <a:t>MICROSOFT EDGE</a:t>
            </a:r>
          </a:p>
        </p:txBody>
      </p:sp>
      <p:cxnSp>
        <p:nvCxnSpPr>
          <p:cNvPr id="9" name="Connector 8"/>
          <p:cNvCxnSpPr/>
          <p:nvPr/>
        </p:nvCxnSpPr>
        <p:spPr>
          <a:xfrm>
            <a:off x="1188720" y="3063240"/>
            <a:ext cx="9601200" cy="0"/>
          </a:xfrm>
          <a:prstGeom prst="line">
            <a:avLst/>
          </a:prstGeom>
          <a:ln w="50800">
            <a:solidFill>
              <a:srgbClr val="E4002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59536" y="2734056"/>
            <a:ext cx="658368" cy="658368"/>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1</a:t>
            </a:r>
          </a:p>
        </p:txBody>
      </p:sp>
      <p:sp>
        <p:nvSpPr>
          <p:cNvPr id="11" name="TextBox 10"/>
          <p:cNvSpPr txBox="1"/>
          <p:nvPr/>
        </p:nvSpPr>
        <p:spPr>
          <a:xfrm>
            <a:off x="438912" y="3566160"/>
            <a:ext cx="1499616" cy="365760"/>
          </a:xfrm>
          <a:prstGeom prst="rect">
            <a:avLst/>
          </a:prstGeom>
          <a:noFill/>
        </p:spPr>
        <p:txBody>
          <a:bodyPr wrap="square" lIns="0" rIns="0" tIns="0" bIns="0" anchor="t"/>
          <a:lstStyle/>
          <a:p>
            <a:pPr algn="ctr">
              <a:spcAft>
                <a:spcPts val="0"/>
              </a:spcAft>
            </a:pPr>
            <a:r>
              <a:rPr sz="1300" b="1" i="0">
                <a:solidFill>
                  <a:srgbClr val="FFFFFF"/>
                </a:solidFill>
                <a:latin typeface="Segoe UI"/>
              </a:rPr>
              <a:t>K3s node</a:t>
            </a:r>
          </a:p>
        </p:txBody>
      </p:sp>
      <p:sp>
        <p:nvSpPr>
          <p:cNvPr id="12" name="TextBox 11"/>
          <p:cNvSpPr txBox="1"/>
          <p:nvPr/>
        </p:nvSpPr>
        <p:spPr>
          <a:xfrm>
            <a:off x="438912" y="3931920"/>
            <a:ext cx="1499616" cy="868680"/>
          </a:xfrm>
          <a:prstGeom prst="rect">
            <a:avLst/>
          </a:prstGeom>
          <a:noFill/>
        </p:spPr>
        <p:txBody>
          <a:bodyPr wrap="square" lIns="0" rIns="0" tIns="0" bIns="0" anchor="t"/>
          <a:lstStyle/>
          <a:p>
            <a:pPr algn="ctr">
              <a:spcAft>
                <a:spcPts val="0"/>
              </a:spcAft>
            </a:pPr>
            <a:r>
              <a:rPr sz="1100" b="0" i="0">
                <a:solidFill>
                  <a:srgbClr val="C9D3DD"/>
                </a:solidFill>
                <a:latin typeface="Segoe UI"/>
              </a:rPr>
              <a:t>Arc + Fleet agents, containerd</a:t>
            </a:r>
          </a:p>
        </p:txBody>
      </p:sp>
      <p:sp>
        <p:nvSpPr>
          <p:cNvPr id="13" name="Oval 12"/>
          <p:cNvSpPr/>
          <p:nvPr/>
        </p:nvSpPr>
        <p:spPr>
          <a:xfrm>
            <a:off x="2459736" y="2734056"/>
            <a:ext cx="658368" cy="658368"/>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2</a:t>
            </a:r>
          </a:p>
        </p:txBody>
      </p:sp>
      <p:sp>
        <p:nvSpPr>
          <p:cNvPr id="14" name="TextBox 13"/>
          <p:cNvSpPr txBox="1"/>
          <p:nvPr/>
        </p:nvSpPr>
        <p:spPr>
          <a:xfrm>
            <a:off x="2039112" y="3566160"/>
            <a:ext cx="1499616" cy="365760"/>
          </a:xfrm>
          <a:prstGeom prst="rect">
            <a:avLst/>
          </a:prstGeom>
          <a:noFill/>
        </p:spPr>
        <p:txBody>
          <a:bodyPr wrap="square" lIns="0" rIns="0" tIns="0" bIns="0" anchor="t"/>
          <a:lstStyle/>
          <a:p>
            <a:pPr algn="ctr">
              <a:spcAft>
                <a:spcPts val="0"/>
              </a:spcAft>
            </a:pPr>
            <a:r>
              <a:rPr sz="1300" b="1" i="0">
                <a:solidFill>
                  <a:srgbClr val="FFFFFF"/>
                </a:solidFill>
                <a:latin typeface="Segoe UI"/>
              </a:rPr>
              <a:t>Edge router</a:t>
            </a:r>
          </a:p>
        </p:txBody>
      </p:sp>
      <p:sp>
        <p:nvSpPr>
          <p:cNvPr id="15" name="TextBox 14"/>
          <p:cNvSpPr txBox="1"/>
          <p:nvPr/>
        </p:nvSpPr>
        <p:spPr>
          <a:xfrm>
            <a:off x="2039112" y="3931920"/>
            <a:ext cx="1499616" cy="868680"/>
          </a:xfrm>
          <a:prstGeom prst="rect">
            <a:avLst/>
          </a:prstGeom>
          <a:noFill/>
        </p:spPr>
        <p:txBody>
          <a:bodyPr wrap="square" lIns="0" rIns="0" tIns="0" bIns="0" anchor="t"/>
          <a:lstStyle/>
          <a:p>
            <a:pPr algn="ctr">
              <a:spcAft>
                <a:spcPts val="0"/>
              </a:spcAft>
            </a:pPr>
            <a:r>
              <a:rPr sz="1100" b="0" i="0">
                <a:solidFill>
                  <a:srgbClr val="C9D3DD"/>
                </a:solidFill>
                <a:latin typeface="Segoe UI"/>
              </a:rPr>
              <a:t>or Fabric Cloud Router · BGP</a:t>
            </a:r>
          </a:p>
        </p:txBody>
      </p:sp>
      <p:sp>
        <p:nvSpPr>
          <p:cNvPr id="16" name="Oval 15"/>
          <p:cNvSpPr/>
          <p:nvPr/>
        </p:nvSpPr>
        <p:spPr>
          <a:xfrm>
            <a:off x="4059935" y="2734056"/>
            <a:ext cx="658368" cy="658368"/>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3</a:t>
            </a:r>
          </a:p>
        </p:txBody>
      </p:sp>
      <p:sp>
        <p:nvSpPr>
          <p:cNvPr id="17" name="TextBox 16"/>
          <p:cNvSpPr txBox="1"/>
          <p:nvPr/>
        </p:nvSpPr>
        <p:spPr>
          <a:xfrm>
            <a:off x="3639312" y="3566160"/>
            <a:ext cx="1499616" cy="365760"/>
          </a:xfrm>
          <a:prstGeom prst="rect">
            <a:avLst/>
          </a:prstGeom>
          <a:noFill/>
        </p:spPr>
        <p:txBody>
          <a:bodyPr wrap="square" lIns="0" rIns="0" tIns="0" bIns="0" anchor="t"/>
          <a:lstStyle/>
          <a:p>
            <a:pPr algn="ctr">
              <a:spcAft>
                <a:spcPts val="0"/>
              </a:spcAft>
            </a:pPr>
            <a:r>
              <a:rPr sz="1300" b="1" i="0">
                <a:solidFill>
                  <a:srgbClr val="FFFFFF"/>
                </a:solidFill>
                <a:latin typeface="Segoe UI"/>
              </a:rPr>
              <a:t>Equinix Fabric</a:t>
            </a:r>
          </a:p>
        </p:txBody>
      </p:sp>
      <p:sp>
        <p:nvSpPr>
          <p:cNvPr id="18" name="TextBox 17"/>
          <p:cNvSpPr txBox="1"/>
          <p:nvPr/>
        </p:nvSpPr>
        <p:spPr>
          <a:xfrm>
            <a:off x="3639312" y="3931920"/>
            <a:ext cx="1499616" cy="868680"/>
          </a:xfrm>
          <a:prstGeom prst="rect">
            <a:avLst/>
          </a:prstGeom>
          <a:noFill/>
        </p:spPr>
        <p:txBody>
          <a:bodyPr wrap="square" lIns="0" rIns="0" tIns="0" bIns="0" anchor="t"/>
          <a:lstStyle/>
          <a:p>
            <a:pPr algn="ctr">
              <a:spcAft>
                <a:spcPts val="0"/>
              </a:spcAft>
            </a:pPr>
            <a:r>
              <a:rPr sz="1100" b="0" i="0">
                <a:solidFill>
                  <a:srgbClr val="C9D3DD"/>
                </a:solidFill>
                <a:latin typeface="Segoe UI"/>
              </a:rPr>
              <a:t>redundant virtual connections</a:t>
            </a:r>
          </a:p>
        </p:txBody>
      </p:sp>
      <p:sp>
        <p:nvSpPr>
          <p:cNvPr id="19" name="Oval 18"/>
          <p:cNvSpPr/>
          <p:nvPr/>
        </p:nvSpPr>
        <p:spPr>
          <a:xfrm>
            <a:off x="5660136" y="2734056"/>
            <a:ext cx="658368" cy="658368"/>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4</a:t>
            </a:r>
          </a:p>
        </p:txBody>
      </p:sp>
      <p:sp>
        <p:nvSpPr>
          <p:cNvPr id="20" name="TextBox 19"/>
          <p:cNvSpPr txBox="1"/>
          <p:nvPr/>
        </p:nvSpPr>
        <p:spPr>
          <a:xfrm>
            <a:off x="5239512" y="3566160"/>
            <a:ext cx="1499616" cy="365760"/>
          </a:xfrm>
          <a:prstGeom prst="rect">
            <a:avLst/>
          </a:prstGeom>
          <a:noFill/>
        </p:spPr>
        <p:txBody>
          <a:bodyPr wrap="square" lIns="0" rIns="0" tIns="0" bIns="0" anchor="t"/>
          <a:lstStyle/>
          <a:p>
            <a:pPr algn="ctr">
              <a:spcAft>
                <a:spcPts val="0"/>
              </a:spcAft>
            </a:pPr>
            <a:r>
              <a:rPr sz="1300" b="1" i="0">
                <a:solidFill>
                  <a:srgbClr val="FFFFFF"/>
                </a:solidFill>
                <a:latin typeface="Segoe UI"/>
              </a:rPr>
              <a:t>ExpressRoute</a:t>
            </a:r>
          </a:p>
        </p:txBody>
      </p:sp>
      <p:sp>
        <p:nvSpPr>
          <p:cNvPr id="21" name="TextBox 20"/>
          <p:cNvSpPr txBox="1"/>
          <p:nvPr/>
        </p:nvSpPr>
        <p:spPr>
          <a:xfrm>
            <a:off x="5239512" y="3931920"/>
            <a:ext cx="1499616" cy="868680"/>
          </a:xfrm>
          <a:prstGeom prst="rect">
            <a:avLst/>
          </a:prstGeom>
          <a:noFill/>
        </p:spPr>
        <p:txBody>
          <a:bodyPr wrap="square" lIns="0" rIns="0" tIns="0" bIns="0" anchor="t"/>
          <a:lstStyle/>
          <a:p>
            <a:pPr algn="ctr">
              <a:spcAft>
                <a:spcPts val="0"/>
              </a:spcAft>
            </a:pPr>
            <a:r>
              <a:rPr sz="1100" b="0" i="0">
                <a:solidFill>
                  <a:srgbClr val="C9D3DD"/>
                </a:solidFill>
                <a:latin typeface="Segoe UI"/>
              </a:rPr>
              <a:t>private peering · VLAN 200</a:t>
            </a:r>
          </a:p>
        </p:txBody>
      </p:sp>
      <p:sp>
        <p:nvSpPr>
          <p:cNvPr id="22" name="Oval 21"/>
          <p:cNvSpPr/>
          <p:nvPr/>
        </p:nvSpPr>
        <p:spPr>
          <a:xfrm>
            <a:off x="7260336" y="2734056"/>
            <a:ext cx="658368" cy="658368"/>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5</a:t>
            </a:r>
          </a:p>
        </p:txBody>
      </p:sp>
      <p:sp>
        <p:nvSpPr>
          <p:cNvPr id="23" name="TextBox 22"/>
          <p:cNvSpPr txBox="1"/>
          <p:nvPr/>
        </p:nvSpPr>
        <p:spPr>
          <a:xfrm>
            <a:off x="6839712" y="3566160"/>
            <a:ext cx="1499616" cy="365760"/>
          </a:xfrm>
          <a:prstGeom prst="rect">
            <a:avLst/>
          </a:prstGeom>
          <a:noFill/>
        </p:spPr>
        <p:txBody>
          <a:bodyPr wrap="square" lIns="0" rIns="0" tIns="0" bIns="0" anchor="t"/>
          <a:lstStyle/>
          <a:p>
            <a:pPr algn="ctr">
              <a:spcAft>
                <a:spcPts val="0"/>
              </a:spcAft>
            </a:pPr>
            <a:r>
              <a:rPr sz="1300" b="1" i="0">
                <a:solidFill>
                  <a:srgbClr val="FFFFFF"/>
                </a:solidFill>
                <a:latin typeface="Segoe UI"/>
              </a:rPr>
              <a:t>ER gateway</a:t>
            </a:r>
          </a:p>
        </p:txBody>
      </p:sp>
      <p:sp>
        <p:nvSpPr>
          <p:cNvPr id="24" name="TextBox 23"/>
          <p:cNvSpPr txBox="1"/>
          <p:nvPr/>
        </p:nvSpPr>
        <p:spPr>
          <a:xfrm>
            <a:off x="6839712" y="3931920"/>
            <a:ext cx="1499616" cy="868680"/>
          </a:xfrm>
          <a:prstGeom prst="rect">
            <a:avLst/>
          </a:prstGeom>
          <a:noFill/>
        </p:spPr>
        <p:txBody>
          <a:bodyPr wrap="square" lIns="0" rIns="0" tIns="0" bIns="0" anchor="t"/>
          <a:lstStyle/>
          <a:p>
            <a:pPr algn="ctr">
              <a:spcAft>
                <a:spcPts val="0"/>
              </a:spcAft>
            </a:pPr>
            <a:r>
              <a:rPr sz="1100" b="0" i="0">
                <a:solidFill>
                  <a:srgbClr val="C9D3DD"/>
                </a:solidFill>
                <a:latin typeface="Segoe UI"/>
              </a:rPr>
              <a:t>hub VNet 10.50.0.0/16</a:t>
            </a:r>
          </a:p>
        </p:txBody>
      </p:sp>
      <p:sp>
        <p:nvSpPr>
          <p:cNvPr id="25" name="Oval 24"/>
          <p:cNvSpPr/>
          <p:nvPr/>
        </p:nvSpPr>
        <p:spPr>
          <a:xfrm>
            <a:off x="8860536" y="2734056"/>
            <a:ext cx="658368" cy="658368"/>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6</a:t>
            </a:r>
          </a:p>
        </p:txBody>
      </p:sp>
      <p:sp>
        <p:nvSpPr>
          <p:cNvPr id="26" name="TextBox 25"/>
          <p:cNvSpPr txBox="1"/>
          <p:nvPr/>
        </p:nvSpPr>
        <p:spPr>
          <a:xfrm>
            <a:off x="8439912" y="3566160"/>
            <a:ext cx="1499616" cy="365760"/>
          </a:xfrm>
          <a:prstGeom prst="rect">
            <a:avLst/>
          </a:prstGeom>
          <a:noFill/>
        </p:spPr>
        <p:txBody>
          <a:bodyPr wrap="square" lIns="0" rIns="0" tIns="0" bIns="0" anchor="t"/>
          <a:lstStyle/>
          <a:p>
            <a:pPr algn="ctr">
              <a:spcAft>
                <a:spcPts val="0"/>
              </a:spcAft>
            </a:pPr>
            <a:r>
              <a:rPr sz="1300" b="1" i="0">
                <a:solidFill>
                  <a:srgbClr val="FFFFFF"/>
                </a:solidFill>
                <a:latin typeface="Segoe UI"/>
              </a:rPr>
              <a:t>Egress proxy</a:t>
            </a:r>
          </a:p>
        </p:txBody>
      </p:sp>
      <p:sp>
        <p:nvSpPr>
          <p:cNvPr id="27" name="TextBox 26"/>
          <p:cNvSpPr txBox="1"/>
          <p:nvPr/>
        </p:nvSpPr>
        <p:spPr>
          <a:xfrm>
            <a:off x="8439912" y="3931920"/>
            <a:ext cx="1499616" cy="868680"/>
          </a:xfrm>
          <a:prstGeom prst="rect">
            <a:avLst/>
          </a:prstGeom>
          <a:noFill/>
        </p:spPr>
        <p:txBody>
          <a:bodyPr wrap="square" lIns="0" rIns="0" tIns="0" bIns="0" anchor="t"/>
          <a:lstStyle/>
          <a:p>
            <a:pPr algn="ctr">
              <a:spcAft>
                <a:spcPts val="0"/>
              </a:spcAft>
            </a:pPr>
            <a:r>
              <a:rPr sz="1100" b="0" i="0">
                <a:solidFill>
                  <a:srgbClr val="C9D3DD"/>
                </a:solidFill>
                <a:latin typeface="Segoe UI"/>
              </a:rPr>
              <a:t>Squid · passthrough · allowlist</a:t>
            </a:r>
          </a:p>
        </p:txBody>
      </p:sp>
      <p:sp>
        <p:nvSpPr>
          <p:cNvPr id="28" name="Oval 27"/>
          <p:cNvSpPr/>
          <p:nvPr/>
        </p:nvSpPr>
        <p:spPr>
          <a:xfrm>
            <a:off x="10460736" y="2734056"/>
            <a:ext cx="658368" cy="658368"/>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7</a:t>
            </a:r>
          </a:p>
        </p:txBody>
      </p:sp>
      <p:sp>
        <p:nvSpPr>
          <p:cNvPr id="29" name="TextBox 28"/>
          <p:cNvSpPr txBox="1"/>
          <p:nvPr/>
        </p:nvSpPr>
        <p:spPr>
          <a:xfrm>
            <a:off x="10040112" y="3566160"/>
            <a:ext cx="1499616" cy="365760"/>
          </a:xfrm>
          <a:prstGeom prst="rect">
            <a:avLst/>
          </a:prstGeom>
          <a:noFill/>
        </p:spPr>
        <p:txBody>
          <a:bodyPr wrap="square" lIns="0" rIns="0" tIns="0" bIns="0" anchor="t"/>
          <a:lstStyle/>
          <a:p>
            <a:pPr algn="ctr">
              <a:spcAft>
                <a:spcPts val="0"/>
              </a:spcAft>
            </a:pPr>
            <a:r>
              <a:rPr sz="1300" b="1" i="0">
                <a:solidFill>
                  <a:srgbClr val="FFFFFF"/>
                </a:solidFill>
                <a:latin typeface="Segoe UI"/>
              </a:rPr>
              <a:t>Arc gateway</a:t>
            </a:r>
          </a:p>
        </p:txBody>
      </p:sp>
      <p:sp>
        <p:nvSpPr>
          <p:cNvPr id="30" name="TextBox 29"/>
          <p:cNvSpPr txBox="1"/>
          <p:nvPr/>
        </p:nvSpPr>
        <p:spPr>
          <a:xfrm>
            <a:off x="10040112" y="3931920"/>
            <a:ext cx="1499616" cy="868680"/>
          </a:xfrm>
          <a:prstGeom prst="rect">
            <a:avLst/>
          </a:prstGeom>
          <a:noFill/>
        </p:spPr>
        <p:txBody>
          <a:bodyPr wrap="square" lIns="0" rIns="0" tIns="0" bIns="0" anchor="t"/>
          <a:lstStyle/>
          <a:p>
            <a:pPr algn="ctr">
              <a:spcAft>
                <a:spcPts val="0"/>
              </a:spcAft>
            </a:pPr>
            <a:r>
              <a:rPr sz="1100" b="0" i="0">
                <a:solidFill>
                  <a:srgbClr val="C9D3DD"/>
                </a:solidFill>
                <a:latin typeface="Segoe UI"/>
              </a:rPr>
              <a:t>*.gw.arc.azure.com</a:t>
            </a:r>
          </a:p>
        </p:txBody>
      </p:sp>
      <p:sp>
        <p:nvSpPr>
          <p:cNvPr id="31" name="TextBox 30"/>
          <p:cNvSpPr txBox="1"/>
          <p:nvPr/>
        </p:nvSpPr>
        <p:spPr>
          <a:xfrm>
            <a:off x="685800" y="5074920"/>
            <a:ext cx="10789920" cy="822960"/>
          </a:xfrm>
          <a:prstGeom prst="rect">
            <a:avLst/>
          </a:prstGeom>
          <a:noFill/>
        </p:spPr>
        <p:txBody>
          <a:bodyPr wrap="square" lIns="0" rIns="0" tIns="0" bIns="0" anchor="t"/>
          <a:lstStyle/>
          <a:p>
            <a:pPr algn="l">
              <a:spcAft>
                <a:spcPts val="0"/>
              </a:spcAft>
            </a:pPr>
            <a:r>
              <a:rPr sz="1500" b="1" i="0">
                <a:solidFill>
                  <a:srgbClr val="E4002B"/>
                </a:solidFill>
                <a:latin typeface="Segoe UI"/>
              </a:rPr>
              <a:t>Proof on stage:  </a:t>
            </a:r>
            <a:r>
              <a:rPr sz="1500" b="0" i="0">
                <a:solidFill>
                  <a:srgbClr val="FFFFFF"/>
                </a:solidFill>
                <a:latin typeface="Segoe UI"/>
              </a:rPr>
              <a:t>BGP routes learned by Azure  ·  Arc gateway enabled  ·  proxy log entries from Equinix node IPs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Equinix Fabric + ExpressRoute, as code</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6</a:t>
            </a:r>
          </a:p>
        </p:txBody>
      </p:sp>
      <p:sp>
        <p:nvSpPr>
          <p:cNvPr id="6" name="Rectangle 5"/>
          <p:cNvSpPr/>
          <p:nvPr/>
        </p:nvSpPr>
        <p:spPr>
          <a:xfrm>
            <a:off x="685800" y="1325880"/>
            <a:ext cx="5715000" cy="224028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39"/>
            <a:ext cx="5257800" cy="274320"/>
          </a:xfrm>
          <a:prstGeom prst="rect">
            <a:avLst/>
          </a:prstGeom>
          <a:noFill/>
        </p:spPr>
        <p:txBody>
          <a:bodyPr wrap="square" lIns="0" rIns="0" tIns="0" bIns="0" anchor="t"/>
          <a:lstStyle/>
          <a:p>
            <a:pPr algn="l">
              <a:spcAft>
                <a:spcPts val="0"/>
              </a:spcAft>
            </a:pPr>
            <a:r>
              <a:rPr sz="1000" b="0" i="0">
                <a:solidFill>
                  <a:srgbClr val="6CC7E0"/>
                </a:solidFill>
                <a:latin typeface="Cascadia Code"/>
              </a:rPr>
              <a:t>terraform/azure/expressroute.tf</a:t>
            </a:r>
          </a:p>
        </p:txBody>
      </p:sp>
      <p:sp>
        <p:nvSpPr>
          <p:cNvPr id="8" name="TextBox 7"/>
          <p:cNvSpPr txBox="1"/>
          <p:nvPr/>
        </p:nvSpPr>
        <p:spPr>
          <a:xfrm>
            <a:off x="914400" y="1783080"/>
            <a:ext cx="5257800" cy="1645920"/>
          </a:xfrm>
          <a:prstGeom prst="rect">
            <a:avLst/>
          </a:prstGeom>
          <a:noFill/>
        </p:spPr>
        <p:txBody>
          <a:bodyPr wrap="square" lIns="0" rIns="0" tIns="0" bIns="0" anchor="t"/>
          <a:lstStyle/>
          <a:p>
            <a:pPr algn="l">
              <a:spcAft>
                <a:spcPts val="0"/>
              </a:spcAft>
            </a:pPr>
            <a:r>
              <a:rPr sz="1150" b="0" i="0">
                <a:solidFill>
                  <a:srgbClr val="D7E3EE"/>
                </a:solidFill>
                <a:latin typeface="Cascadia Code"/>
              </a:rPr>
              <a:t>resource "azurerm_express_route_circuit" "equinix" {</a:t>
            </a:r>
          </a:p>
          <a:p>
            <a:pPr algn="l">
              <a:spcAft>
                <a:spcPts val="0"/>
              </a:spcAft>
            </a:pPr>
            <a:r>
              <a:rPr sz="1150" b="0" i="0">
                <a:solidFill>
                  <a:srgbClr val="D7E3EE"/>
                </a:solidFill>
                <a:latin typeface="Cascadia Code"/>
              </a:rPr>
              <a:t>  service_provider_name = "Equinix"</a:t>
            </a:r>
          </a:p>
          <a:p>
            <a:pPr algn="l">
              <a:spcAft>
                <a:spcPts val="0"/>
              </a:spcAft>
            </a:pPr>
            <a:r>
              <a:rPr sz="1150" b="0" i="0">
                <a:solidFill>
                  <a:srgbClr val="D7E3EE"/>
                </a:solidFill>
                <a:latin typeface="Cascadia Code"/>
              </a:rPr>
              <a:t>  peering_location      = "Silicon Valley"  # SV1</a:t>
            </a:r>
          </a:p>
          <a:p>
            <a:pPr algn="l">
              <a:spcAft>
                <a:spcPts val="0"/>
              </a:spcAft>
            </a:pPr>
            <a:r>
              <a:rPr sz="1150" b="0" i="0">
                <a:solidFill>
                  <a:srgbClr val="D7E3EE"/>
                </a:solidFill>
                <a:latin typeface="Cascadia Code"/>
              </a:rPr>
              <a:t>  bandwidth_in_mbps     = 50</a:t>
            </a:r>
          </a:p>
          <a:p>
            <a:pPr algn="l">
              <a:spcAft>
                <a:spcPts val="0"/>
              </a:spcAft>
            </a:pPr>
            <a:r>
              <a:rPr sz="1150" b="0" i="0">
                <a:solidFill>
                  <a:srgbClr val="D7E3EE"/>
                </a:solidFill>
                <a:latin typeface="Cascadia Code"/>
              </a:rPr>
              <a:t>  sku {</a:t>
            </a:r>
          </a:p>
          <a:p>
            <a:pPr algn="l">
              <a:spcAft>
                <a:spcPts val="0"/>
              </a:spcAft>
            </a:pPr>
            <a:r>
              <a:rPr sz="1150" b="0" i="0">
                <a:solidFill>
                  <a:srgbClr val="D7E3EE"/>
                </a:solidFill>
                <a:latin typeface="Cascadia Code"/>
              </a:rPr>
              <a:t>    tier   = "Standard"</a:t>
            </a:r>
          </a:p>
          <a:p>
            <a:pPr algn="l">
              <a:spcAft>
                <a:spcPts val="0"/>
              </a:spcAft>
            </a:pPr>
            <a:r>
              <a:rPr sz="1150" b="0" i="0">
                <a:solidFill>
                  <a:srgbClr val="D7E3EE"/>
                </a:solidFill>
                <a:latin typeface="Cascadia Code"/>
              </a:rPr>
              <a:t>    family = "MeteredData"</a:t>
            </a:r>
          </a:p>
          <a:p>
            <a:pPr algn="l">
              <a:spcAft>
                <a:spcPts val="0"/>
              </a:spcAft>
            </a:pPr>
            <a:r>
              <a:rPr sz="1150" b="0" i="0">
                <a:solidFill>
                  <a:srgbClr val="D7E3EE"/>
                </a:solidFill>
                <a:latin typeface="Cascadia Code"/>
              </a:rPr>
              <a:t>  }</a:t>
            </a:r>
          </a:p>
          <a:p>
            <a:pPr algn="l">
              <a:spcAft>
                <a:spcPts val="0"/>
              </a:spcAft>
            </a:pPr>
            <a:r>
              <a:rPr sz="1150" b="0" i="0">
                <a:solidFill>
                  <a:srgbClr val="D7E3EE"/>
                </a:solidFill>
                <a:latin typeface="Cascadia Code"/>
              </a:rPr>
              <a:t>}</a:t>
            </a:r>
          </a:p>
        </p:txBody>
      </p:sp>
      <p:sp>
        <p:nvSpPr>
          <p:cNvPr id="9" name="Rectangle 8"/>
          <p:cNvSpPr/>
          <p:nvPr/>
        </p:nvSpPr>
        <p:spPr>
          <a:xfrm>
            <a:off x="685800" y="3749039"/>
            <a:ext cx="5715000" cy="224028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86200"/>
            <a:ext cx="5257800" cy="274320"/>
          </a:xfrm>
          <a:prstGeom prst="rect">
            <a:avLst/>
          </a:prstGeom>
          <a:noFill/>
        </p:spPr>
        <p:txBody>
          <a:bodyPr wrap="square" lIns="0" rIns="0" tIns="0" bIns="0" anchor="t"/>
          <a:lstStyle/>
          <a:p>
            <a:pPr algn="l">
              <a:spcAft>
                <a:spcPts val="0"/>
              </a:spcAft>
            </a:pPr>
            <a:r>
              <a:rPr sz="1000" b="0" i="0">
                <a:solidFill>
                  <a:srgbClr val="6CC7E0"/>
                </a:solidFill>
                <a:latin typeface="Cascadia Code"/>
              </a:rPr>
              <a:t>terraform/equinix/main.tf</a:t>
            </a:r>
          </a:p>
        </p:txBody>
      </p:sp>
      <p:sp>
        <p:nvSpPr>
          <p:cNvPr id="11" name="TextBox 10"/>
          <p:cNvSpPr txBox="1"/>
          <p:nvPr/>
        </p:nvSpPr>
        <p:spPr>
          <a:xfrm>
            <a:off x="914400" y="4206240"/>
            <a:ext cx="5257800" cy="1645920"/>
          </a:xfrm>
          <a:prstGeom prst="rect">
            <a:avLst/>
          </a:prstGeom>
          <a:noFill/>
        </p:spPr>
        <p:txBody>
          <a:bodyPr wrap="square" lIns="0" rIns="0" tIns="0" bIns="0" anchor="t"/>
          <a:lstStyle/>
          <a:p>
            <a:pPr algn="l">
              <a:spcAft>
                <a:spcPts val="0"/>
              </a:spcAft>
            </a:pPr>
            <a:r>
              <a:rPr sz="1150" b="0" i="0">
                <a:solidFill>
                  <a:srgbClr val="D7E3EE"/>
                </a:solidFill>
                <a:latin typeface="Cascadia Code"/>
              </a:rPr>
              <a:t>resource "equinix_fabric_connection" "azure_primary" {</a:t>
            </a:r>
          </a:p>
          <a:p>
            <a:pPr algn="l">
              <a:spcAft>
                <a:spcPts val="0"/>
              </a:spcAft>
            </a:pPr>
            <a:r>
              <a:rPr sz="1150" b="0" i="0">
                <a:solidFill>
                  <a:srgbClr val="D7E3EE"/>
                </a:solidFill>
                <a:latin typeface="Cascadia Code"/>
              </a:rPr>
              <a:t>  type = "EVPL_VC"        # IP_VC from a Cloud Router</a:t>
            </a:r>
          </a:p>
          <a:p>
            <a:pPr algn="l">
              <a:spcAft>
                <a:spcPts val="0"/>
              </a:spcAft>
            </a:pPr>
            <a:r>
              <a:rPr sz="1150" b="0" i="0">
                <a:solidFill>
                  <a:srgbClr val="D7E3EE"/>
                </a:solidFill>
                <a:latin typeface="Cascadia Code"/>
              </a:rPr>
              <a:t>  z_side { access_point {</a:t>
            </a:r>
          </a:p>
          <a:p>
            <a:pPr algn="l">
              <a:spcAft>
                <a:spcPts val="0"/>
              </a:spcAft>
            </a:pPr>
            <a:r>
              <a:rPr sz="1150" b="0" i="0">
                <a:solidFill>
                  <a:srgbClr val="D7E3EE"/>
                </a:solidFill>
                <a:latin typeface="Cascadia Code"/>
              </a:rPr>
              <a:t>    type               = "SP"</a:t>
            </a:r>
          </a:p>
          <a:p>
            <a:pPr algn="l">
              <a:spcAft>
                <a:spcPts val="0"/>
              </a:spcAft>
            </a:pPr>
            <a:r>
              <a:rPr sz="1150" b="0" i="0">
                <a:solidFill>
                  <a:srgbClr val="D7E3EE"/>
                </a:solidFill>
                <a:latin typeface="Cascadia Code"/>
              </a:rPr>
              <a:t>    authentication_key = var.expressroute_service_key</a:t>
            </a:r>
          </a:p>
          <a:p>
            <a:pPr algn="l">
              <a:spcAft>
                <a:spcPts val="0"/>
              </a:spcAft>
            </a:pPr>
            <a:r>
              <a:rPr sz="1150" b="0" i="0">
                <a:solidFill>
                  <a:srgbClr val="D7E3EE"/>
                </a:solidFill>
                <a:latin typeface="Cascadia Code"/>
              </a:rPr>
              <a:t>    peering_type       = "PRIVATE"</a:t>
            </a:r>
          </a:p>
          <a:p>
            <a:pPr algn="l">
              <a:spcAft>
                <a:spcPts val="0"/>
              </a:spcAft>
            </a:pPr>
            <a:r>
              <a:rPr sz="1150" b="0" i="0">
                <a:solidFill>
                  <a:srgbClr val="D7E3EE"/>
                </a:solidFill>
                <a:latin typeface="Cascadia Code"/>
              </a:rPr>
              <a:t>    link_protocol { type = "QINQ"  vlan_c_tag = 200 }</a:t>
            </a:r>
          </a:p>
          <a:p>
            <a:pPr algn="l">
              <a:spcAft>
                <a:spcPts val="0"/>
              </a:spcAft>
            </a:pPr>
            <a:r>
              <a:rPr sz="1150" b="0" i="0">
                <a:solidFill>
                  <a:srgbClr val="D7E3EE"/>
                </a:solidFill>
                <a:latin typeface="Cascadia Code"/>
              </a:rPr>
              <a:t>  } }</a:t>
            </a:r>
          </a:p>
          <a:p>
            <a:pPr algn="l">
              <a:spcAft>
                <a:spcPts val="0"/>
              </a:spcAft>
            </a:pPr>
            <a:r>
              <a:rPr sz="1150" b="0" i="0">
                <a:solidFill>
                  <a:srgbClr val="D7E3EE"/>
                </a:solidFill>
                <a:latin typeface="Cascadia Code"/>
              </a:rPr>
              <a:t>}</a:t>
            </a:r>
          </a:p>
        </p:txBody>
      </p:sp>
      <p:sp>
        <p:nvSpPr>
          <p:cNvPr id="12" name="Oval 11"/>
          <p:cNvSpPr/>
          <p:nvPr/>
        </p:nvSpPr>
        <p:spPr>
          <a:xfrm>
            <a:off x="6812280" y="1508760"/>
            <a:ext cx="548640" cy="548640"/>
          </a:xfrm>
          <a:prstGeom prst="ellipse">
            <a:avLst/>
          </a:prstGeom>
          <a:solidFill>
            <a:srgbClr val="0B1622"/>
          </a:solidFill>
          <a:ln w="25400">
            <a:solidFill>
              <a:srgbClr val="0B162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i="0">
                <a:solidFill>
                  <a:srgbClr val="FFFFFF"/>
                </a:solidFill>
                <a:latin typeface="Bahnschrift SemiBold"/>
              </a:rPr>
              <a:t>1</a:t>
            </a:r>
          </a:p>
        </p:txBody>
      </p:sp>
      <p:sp>
        <p:nvSpPr>
          <p:cNvPr id="13" name="TextBox 12"/>
          <p:cNvSpPr txBox="1"/>
          <p:nvPr/>
        </p:nvSpPr>
        <p:spPr>
          <a:xfrm>
            <a:off x="7589520" y="1417320"/>
            <a:ext cx="3931920" cy="384048"/>
          </a:xfrm>
          <a:prstGeom prst="rect">
            <a:avLst/>
          </a:prstGeom>
          <a:noFill/>
        </p:spPr>
        <p:txBody>
          <a:bodyPr wrap="square" lIns="0" rIns="0" tIns="0" bIns="0" anchor="t"/>
          <a:lstStyle/>
          <a:p>
            <a:pPr algn="l">
              <a:spcAft>
                <a:spcPts val="0"/>
              </a:spcAft>
            </a:pPr>
            <a:r>
              <a:rPr sz="1700" b="1" i="0">
                <a:solidFill>
                  <a:srgbClr val="16202C"/>
                </a:solidFill>
                <a:latin typeface="Segoe UI"/>
              </a:rPr>
              <a:t>Three origin types</a:t>
            </a:r>
          </a:p>
        </p:txBody>
      </p:sp>
      <p:sp>
        <p:nvSpPr>
          <p:cNvPr id="14" name="TextBox 13"/>
          <p:cNvSpPr txBox="1"/>
          <p:nvPr/>
        </p:nvSpPr>
        <p:spPr>
          <a:xfrm>
            <a:off x="7589520" y="1874519"/>
            <a:ext cx="3931920" cy="640080"/>
          </a:xfrm>
          <a:prstGeom prst="rect">
            <a:avLst/>
          </a:prstGeom>
          <a:noFill/>
        </p:spPr>
        <p:txBody>
          <a:bodyPr wrap="square" lIns="0" rIns="0" tIns="0" bIns="0" anchor="t"/>
          <a:lstStyle/>
          <a:p>
            <a:pPr algn="l">
              <a:spcAft>
                <a:spcPts val="0"/>
              </a:spcAft>
            </a:pPr>
            <a:r>
              <a:rPr sz="1300" b="0" i="0">
                <a:solidFill>
                  <a:srgbClr val="5E6B7A"/>
                </a:solidFill>
                <a:latin typeface="Segoe UI"/>
              </a:rPr>
              <a:t>Fabric port · Fabric Cloud Router · service token</a:t>
            </a:r>
          </a:p>
        </p:txBody>
      </p:sp>
      <p:sp>
        <p:nvSpPr>
          <p:cNvPr id="15" name="Oval 14"/>
          <p:cNvSpPr/>
          <p:nvPr/>
        </p:nvSpPr>
        <p:spPr>
          <a:xfrm>
            <a:off x="6812280" y="2670048"/>
            <a:ext cx="548640" cy="548640"/>
          </a:xfrm>
          <a:prstGeom prst="ellipse">
            <a:avLst/>
          </a:prstGeom>
          <a:solidFill>
            <a:srgbClr val="0B1622"/>
          </a:solidFill>
          <a:ln w="25400">
            <a:solidFill>
              <a:srgbClr val="0B162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i="0">
                <a:solidFill>
                  <a:srgbClr val="FFFFFF"/>
                </a:solidFill>
                <a:latin typeface="Bahnschrift SemiBold"/>
              </a:rPr>
              <a:t>2</a:t>
            </a:r>
          </a:p>
        </p:txBody>
      </p:sp>
      <p:sp>
        <p:nvSpPr>
          <p:cNvPr id="16" name="TextBox 15"/>
          <p:cNvSpPr txBox="1"/>
          <p:nvPr/>
        </p:nvSpPr>
        <p:spPr>
          <a:xfrm>
            <a:off x="7589520" y="2578608"/>
            <a:ext cx="3931920" cy="384048"/>
          </a:xfrm>
          <a:prstGeom prst="rect">
            <a:avLst/>
          </a:prstGeom>
          <a:noFill/>
        </p:spPr>
        <p:txBody>
          <a:bodyPr wrap="square" lIns="0" rIns="0" tIns="0" bIns="0" anchor="t"/>
          <a:lstStyle/>
          <a:p>
            <a:pPr algn="l">
              <a:spcAft>
                <a:spcPts val="0"/>
              </a:spcAft>
            </a:pPr>
            <a:r>
              <a:rPr sz="1700" b="1" i="0">
                <a:solidFill>
                  <a:srgbClr val="16202C"/>
                </a:solidFill>
                <a:latin typeface="Segoe UI"/>
              </a:rPr>
              <a:t>Same as Quick Connect</a:t>
            </a:r>
          </a:p>
        </p:txBody>
      </p:sp>
      <p:sp>
        <p:nvSpPr>
          <p:cNvPr id="17" name="TextBox 16"/>
          <p:cNvSpPr txBox="1"/>
          <p:nvPr/>
        </p:nvSpPr>
        <p:spPr>
          <a:xfrm>
            <a:off x="7589520" y="3035808"/>
            <a:ext cx="3931920" cy="640080"/>
          </a:xfrm>
          <a:prstGeom prst="rect">
            <a:avLst/>
          </a:prstGeom>
          <a:noFill/>
        </p:spPr>
        <p:txBody>
          <a:bodyPr wrap="square" lIns="0" rIns="0" tIns="0" bIns="0" anchor="t"/>
          <a:lstStyle/>
          <a:p>
            <a:pPr algn="l">
              <a:spcAft>
                <a:spcPts val="0"/>
              </a:spcAft>
            </a:pPr>
            <a:r>
              <a:rPr sz="1300" b="0" i="0">
                <a:solidFill>
                  <a:srgbClr val="5E6B7A"/>
                </a:solidFill>
                <a:latin typeface="Segoe UI"/>
              </a:rPr>
              <a:t>Portal: Microsoft Azure → Azure ExpressRoute → paste service key</a:t>
            </a:r>
          </a:p>
        </p:txBody>
      </p:sp>
      <p:sp>
        <p:nvSpPr>
          <p:cNvPr id="18" name="Oval 17"/>
          <p:cNvSpPr/>
          <p:nvPr/>
        </p:nvSpPr>
        <p:spPr>
          <a:xfrm>
            <a:off x="6812280" y="3831336"/>
            <a:ext cx="548640" cy="548640"/>
          </a:xfrm>
          <a:prstGeom prst="ellipse">
            <a:avLst/>
          </a:prstGeom>
          <a:solidFill>
            <a:srgbClr val="E4002B"/>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i="0">
                <a:solidFill>
                  <a:srgbClr val="FFFFFF"/>
                </a:solidFill>
                <a:latin typeface="Bahnschrift SemiBold"/>
              </a:rPr>
              <a:t>3</a:t>
            </a:r>
          </a:p>
        </p:txBody>
      </p:sp>
      <p:sp>
        <p:nvSpPr>
          <p:cNvPr id="19" name="TextBox 18"/>
          <p:cNvSpPr txBox="1"/>
          <p:nvPr/>
        </p:nvSpPr>
        <p:spPr>
          <a:xfrm>
            <a:off x="7589520" y="3739896"/>
            <a:ext cx="3931920" cy="384048"/>
          </a:xfrm>
          <a:prstGeom prst="rect">
            <a:avLst/>
          </a:prstGeom>
          <a:noFill/>
        </p:spPr>
        <p:txBody>
          <a:bodyPr wrap="square" lIns="0" rIns="0" tIns="0" bIns="0" anchor="t"/>
          <a:lstStyle/>
          <a:p>
            <a:pPr algn="l">
              <a:spcAft>
                <a:spcPts val="0"/>
              </a:spcAft>
            </a:pPr>
            <a:r>
              <a:rPr sz="1700" b="1" i="0">
                <a:solidFill>
                  <a:srgbClr val="E4002B"/>
                </a:solidFill>
                <a:latin typeface="Segoe UI"/>
              </a:rPr>
              <a:t>Mind the meter</a:t>
            </a:r>
          </a:p>
        </p:txBody>
      </p:sp>
      <p:sp>
        <p:nvSpPr>
          <p:cNvPr id="20" name="TextBox 19"/>
          <p:cNvSpPr txBox="1"/>
          <p:nvPr/>
        </p:nvSpPr>
        <p:spPr>
          <a:xfrm>
            <a:off x="7589520" y="4197096"/>
            <a:ext cx="3931920" cy="640080"/>
          </a:xfrm>
          <a:prstGeom prst="rect">
            <a:avLst/>
          </a:prstGeom>
          <a:noFill/>
        </p:spPr>
        <p:txBody>
          <a:bodyPr wrap="square" lIns="0" rIns="0" tIns="0" bIns="0" anchor="t"/>
          <a:lstStyle/>
          <a:p>
            <a:pPr algn="l">
              <a:spcAft>
                <a:spcPts val="0"/>
              </a:spcAft>
            </a:pPr>
            <a:r>
              <a:rPr sz="1300" b="0" i="0">
                <a:solidFill>
                  <a:srgbClr val="5E6B7A"/>
                </a:solidFill>
                <a:latin typeface="Segoe UI"/>
              </a:rPr>
              <a:t>ExpressRoute bills from the moment the service key is issued</a:t>
            </a:r>
          </a:p>
        </p:txBody>
      </p:sp>
      <p:sp>
        <p:nvSpPr>
          <p:cNvPr id="21" name="Oval 20"/>
          <p:cNvSpPr/>
          <p:nvPr/>
        </p:nvSpPr>
        <p:spPr>
          <a:xfrm>
            <a:off x="6812280" y="4992624"/>
            <a:ext cx="548640" cy="548640"/>
          </a:xfrm>
          <a:prstGeom prst="ellipse">
            <a:avLst/>
          </a:prstGeom>
          <a:solidFill>
            <a:srgbClr val="0B1622"/>
          </a:solidFill>
          <a:ln w="25400">
            <a:solidFill>
              <a:srgbClr val="0B162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0" i="0">
                <a:solidFill>
                  <a:srgbClr val="FFFFFF"/>
                </a:solidFill>
                <a:latin typeface="Bahnschrift SemiBold"/>
              </a:rPr>
              <a:t>4</a:t>
            </a:r>
          </a:p>
        </p:txBody>
      </p:sp>
      <p:sp>
        <p:nvSpPr>
          <p:cNvPr id="22" name="TextBox 21"/>
          <p:cNvSpPr txBox="1"/>
          <p:nvPr/>
        </p:nvSpPr>
        <p:spPr>
          <a:xfrm>
            <a:off x="7589520" y="4901184"/>
            <a:ext cx="3931920" cy="384048"/>
          </a:xfrm>
          <a:prstGeom prst="rect">
            <a:avLst/>
          </a:prstGeom>
          <a:noFill/>
        </p:spPr>
        <p:txBody>
          <a:bodyPr wrap="square" lIns="0" rIns="0" tIns="0" bIns="0" anchor="t"/>
          <a:lstStyle/>
          <a:p>
            <a:pPr algn="l">
              <a:spcAft>
                <a:spcPts val="0"/>
              </a:spcAft>
            </a:pPr>
            <a:r>
              <a:rPr sz="1700" b="1" i="0">
                <a:solidFill>
                  <a:srgbClr val="16202C"/>
                </a:solidFill>
                <a:latin typeface="Segoe UI"/>
              </a:rPr>
              <a:t>Secrets stay secret</a:t>
            </a:r>
          </a:p>
        </p:txBody>
      </p:sp>
      <p:sp>
        <p:nvSpPr>
          <p:cNvPr id="23" name="TextBox 22"/>
          <p:cNvSpPr txBox="1"/>
          <p:nvPr/>
        </p:nvSpPr>
        <p:spPr>
          <a:xfrm>
            <a:off x="7589520" y="5358384"/>
            <a:ext cx="3931920" cy="640080"/>
          </a:xfrm>
          <a:prstGeom prst="rect">
            <a:avLst/>
          </a:prstGeom>
          <a:noFill/>
        </p:spPr>
        <p:txBody>
          <a:bodyPr wrap="square" lIns="0" rIns="0" tIns="0" bIns="0" anchor="t"/>
          <a:lstStyle/>
          <a:p>
            <a:pPr algn="l">
              <a:spcAft>
                <a:spcPts val="0"/>
              </a:spcAft>
            </a:pPr>
            <a:r>
              <a:rPr sz="1300" b="0" i="0">
                <a:solidFill>
                  <a:srgbClr val="5E6B7A"/>
                </a:solidFill>
                <a:latin typeface="Segoe UI"/>
              </a:rPr>
              <a:t>Service key passed in-process only; Equinix API keys never on disk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Why the Arc gateway?</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7</a:t>
            </a:r>
          </a:p>
        </p:txBody>
      </p:sp>
      <p:sp>
        <p:nvSpPr>
          <p:cNvPr id="6" name="Rectangle 5"/>
          <p:cNvSpPr/>
          <p:nvPr/>
        </p:nvSpPr>
        <p:spPr>
          <a:xfrm>
            <a:off x="685800" y="1417320"/>
            <a:ext cx="3383280" cy="4526280"/>
          </a:xfrm>
          <a:prstGeom prst="rect">
            <a:avLst/>
          </a:prstGeom>
          <a:solidFill>
            <a:srgbClr val="0B16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45920"/>
            <a:ext cx="3383280" cy="1463040"/>
          </a:xfrm>
          <a:prstGeom prst="rect">
            <a:avLst/>
          </a:prstGeom>
          <a:noFill/>
        </p:spPr>
        <p:txBody>
          <a:bodyPr wrap="square" lIns="0" rIns="0" tIns="0" bIns="0" anchor="t"/>
          <a:lstStyle/>
          <a:p>
            <a:pPr algn="ctr">
              <a:spcAft>
                <a:spcPts val="0"/>
              </a:spcAft>
            </a:pPr>
            <a:r>
              <a:rPr sz="11000" b="0" i="0">
                <a:solidFill>
                  <a:srgbClr val="FFFFFF"/>
                </a:solidFill>
                <a:latin typeface="Bahnschrift SemiBold"/>
              </a:rPr>
              <a:t>9</a:t>
            </a:r>
          </a:p>
        </p:txBody>
      </p:sp>
      <p:sp>
        <p:nvSpPr>
          <p:cNvPr id="8" name="TextBox 7"/>
          <p:cNvSpPr txBox="1"/>
          <p:nvPr/>
        </p:nvSpPr>
        <p:spPr>
          <a:xfrm>
            <a:off x="960120" y="3337560"/>
            <a:ext cx="2834640" cy="914400"/>
          </a:xfrm>
          <a:prstGeom prst="rect">
            <a:avLst/>
          </a:prstGeom>
          <a:noFill/>
        </p:spPr>
        <p:txBody>
          <a:bodyPr wrap="square" lIns="0" rIns="0" tIns="0" bIns="0" anchor="t"/>
          <a:lstStyle/>
          <a:p>
            <a:pPr algn="ctr">
              <a:spcAft>
                <a:spcPts val="0"/>
              </a:spcAft>
            </a:pPr>
            <a:r>
              <a:rPr sz="1600" b="0" i="0">
                <a:solidFill>
                  <a:srgbClr val="C9D3DD"/>
                </a:solidFill>
                <a:latin typeface="Segoe UI"/>
              </a:rPr>
              <a:t>FQDNs to allow through the proxy — instead of dozens</a:t>
            </a:r>
          </a:p>
        </p:txBody>
      </p:sp>
      <p:sp>
        <p:nvSpPr>
          <p:cNvPr id="9" name="TextBox 8"/>
          <p:cNvSpPr txBox="1"/>
          <p:nvPr/>
        </p:nvSpPr>
        <p:spPr>
          <a:xfrm>
            <a:off x="960120" y="4526280"/>
            <a:ext cx="2834640" cy="1097280"/>
          </a:xfrm>
          <a:prstGeom prst="rect">
            <a:avLst/>
          </a:prstGeom>
          <a:noFill/>
        </p:spPr>
        <p:txBody>
          <a:bodyPr wrap="square" lIns="0" rIns="0" tIns="0" bIns="0" anchor="ctr"/>
          <a:lstStyle/>
          <a:p>
            <a:pPr algn="ctr">
              <a:spcAft>
                <a:spcPts val="0"/>
              </a:spcAft>
            </a:pPr>
            <a:r>
              <a:rPr sz="1300" b="1" i="0">
                <a:solidFill>
                  <a:srgbClr val="6CC7E0"/>
                </a:solidFill>
                <a:latin typeface="Segoe UI"/>
              </a:rPr>
              <a:t>Required by Fleet Manager for Arc members behind a proxy</a:t>
            </a:r>
          </a:p>
        </p:txBody>
      </p:sp>
      <p:sp>
        <p:nvSpPr>
          <p:cNvPr id="10" name="Rectangle 9"/>
          <p:cNvSpPr/>
          <p:nvPr/>
        </p:nvSpPr>
        <p:spPr>
          <a:xfrm>
            <a:off x="4434840" y="1417320"/>
            <a:ext cx="7178040" cy="1371600"/>
          </a:xfrm>
          <a:prstGeom prst="rect">
            <a:avLst/>
          </a:prstGeom>
          <a:solidFill>
            <a:srgbClr val="F0FAF5"/>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00016" y="1773936"/>
            <a:ext cx="658368" cy="658368"/>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Segoe UI Symbol"/>
              </a:rPr>
              <a:t>✓</a:t>
            </a:r>
          </a:p>
        </p:txBody>
      </p:sp>
      <p:sp>
        <p:nvSpPr>
          <p:cNvPr id="12" name="TextBox 11"/>
          <p:cNvSpPr txBox="1"/>
          <p:nvPr/>
        </p:nvSpPr>
        <p:spPr>
          <a:xfrm>
            <a:off x="5623560" y="1600200"/>
            <a:ext cx="5806440" cy="411480"/>
          </a:xfrm>
          <a:prstGeom prst="rect">
            <a:avLst/>
          </a:prstGeom>
          <a:noFill/>
        </p:spPr>
        <p:txBody>
          <a:bodyPr wrap="square" lIns="0" rIns="0" tIns="0" bIns="0" anchor="t"/>
          <a:lstStyle/>
          <a:p>
            <a:pPr algn="l">
              <a:spcAft>
                <a:spcPts val="0"/>
              </a:spcAft>
            </a:pPr>
            <a:r>
              <a:rPr sz="1700" b="1" i="0">
                <a:solidFill>
                  <a:srgbClr val="16202C"/>
                </a:solidFill>
                <a:latin typeface="Segoe UI"/>
              </a:rPr>
              <a:t>Arc gateway + passthrough proxy over ExpressRoute</a:t>
            </a:r>
          </a:p>
        </p:txBody>
      </p:sp>
      <p:sp>
        <p:nvSpPr>
          <p:cNvPr id="13" name="TextBox 12"/>
          <p:cNvSpPr txBox="1"/>
          <p:nvPr/>
        </p:nvSpPr>
        <p:spPr>
          <a:xfrm>
            <a:off x="5623560" y="2039112"/>
            <a:ext cx="5806440" cy="685800"/>
          </a:xfrm>
          <a:prstGeom prst="rect">
            <a:avLst/>
          </a:prstGeom>
          <a:noFill/>
        </p:spPr>
        <p:txBody>
          <a:bodyPr wrap="square" lIns="0" rIns="0" tIns="0" bIns="0" anchor="t"/>
          <a:lstStyle/>
          <a:p>
            <a:pPr algn="l">
              <a:spcAft>
                <a:spcPts val="0"/>
              </a:spcAft>
            </a:pPr>
            <a:r>
              <a:rPr sz="1300" b="0" i="0">
                <a:solidFill>
                  <a:srgbClr val="5E6B7A"/>
                </a:solidFill>
                <a:latin typeface="Segoe UI"/>
              </a:rPr>
              <a:t>Supported path for proxied Fleet members · one auditable egress point · no internet in the cage</a:t>
            </a:r>
          </a:p>
        </p:txBody>
      </p:sp>
      <p:sp>
        <p:nvSpPr>
          <p:cNvPr id="14" name="Rectangle 13"/>
          <p:cNvSpPr/>
          <p:nvPr/>
        </p:nvSpPr>
        <p:spPr>
          <a:xfrm>
            <a:off x="4434840" y="3017520"/>
            <a:ext cx="7178040" cy="137160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00016" y="3374136"/>
            <a:ext cx="658368" cy="658368"/>
          </a:xfrm>
          <a:prstGeom prst="ellipse">
            <a:avLst/>
          </a:prstGeom>
          <a:solidFill>
            <a:srgbClr val="5F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Segoe UI Symbol"/>
              </a:rPr>
              <a:t>✕</a:t>
            </a:r>
          </a:p>
        </p:txBody>
      </p:sp>
      <p:sp>
        <p:nvSpPr>
          <p:cNvPr id="16" name="TextBox 15"/>
          <p:cNvSpPr txBox="1"/>
          <p:nvPr/>
        </p:nvSpPr>
        <p:spPr>
          <a:xfrm>
            <a:off x="5623560" y="3200400"/>
            <a:ext cx="5806440" cy="411480"/>
          </a:xfrm>
          <a:prstGeom prst="rect">
            <a:avLst/>
          </a:prstGeom>
          <a:noFill/>
        </p:spPr>
        <p:txBody>
          <a:bodyPr wrap="square" lIns="0" rIns="0" tIns="0" bIns="0" anchor="t"/>
          <a:lstStyle/>
          <a:p>
            <a:pPr algn="l">
              <a:spcAft>
                <a:spcPts val="0"/>
              </a:spcAft>
            </a:pPr>
            <a:r>
              <a:rPr sz="1700" b="1" i="0">
                <a:solidFill>
                  <a:srgbClr val="16202C"/>
                </a:solidFill>
                <a:latin typeface="Segoe UI"/>
              </a:rPr>
              <a:t>Arc Private Link for Kubernetes</a:t>
            </a:r>
          </a:p>
        </p:txBody>
      </p:sp>
      <p:sp>
        <p:nvSpPr>
          <p:cNvPr id="17" name="TextBox 16"/>
          <p:cNvSpPr txBox="1"/>
          <p:nvPr/>
        </p:nvSpPr>
        <p:spPr>
          <a:xfrm>
            <a:off x="5623560" y="3639312"/>
            <a:ext cx="5806440" cy="685800"/>
          </a:xfrm>
          <a:prstGeom prst="rect">
            <a:avLst/>
          </a:prstGeom>
          <a:noFill/>
        </p:spPr>
        <p:txBody>
          <a:bodyPr wrap="square" lIns="0" rIns="0" tIns="0" bIns="0" anchor="t"/>
          <a:lstStyle/>
          <a:p>
            <a:pPr algn="l">
              <a:spcAft>
                <a:spcPts val="0"/>
              </a:spcAft>
            </a:pPr>
            <a:r>
              <a:rPr sz="1300" b="0" i="0">
                <a:solidFill>
                  <a:srgbClr val="5E6B7A"/>
                </a:solidFill>
                <a:latin typeface="Segoe UI"/>
              </a:rPr>
              <a:t>Still preview · Entra ID, ARM and MCR still over the internet · no Cluster Connect</a:t>
            </a:r>
          </a:p>
        </p:txBody>
      </p:sp>
      <p:sp>
        <p:nvSpPr>
          <p:cNvPr id="18" name="Rectangle 17"/>
          <p:cNvSpPr/>
          <p:nvPr/>
        </p:nvSpPr>
        <p:spPr>
          <a:xfrm>
            <a:off x="4434840" y="4617720"/>
            <a:ext cx="7178040" cy="137160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700016" y="4974336"/>
            <a:ext cx="658368" cy="658368"/>
          </a:xfrm>
          <a:prstGeom prst="ellipse">
            <a:avLst/>
          </a:prstGeom>
          <a:solidFill>
            <a:srgbClr val="5F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Segoe UI Symbol"/>
              </a:rPr>
              <a:t>✕</a:t>
            </a:r>
          </a:p>
        </p:txBody>
      </p:sp>
      <p:sp>
        <p:nvSpPr>
          <p:cNvPr id="20" name="TextBox 19"/>
          <p:cNvSpPr txBox="1"/>
          <p:nvPr/>
        </p:nvSpPr>
        <p:spPr>
          <a:xfrm>
            <a:off x="5623560" y="4800600"/>
            <a:ext cx="5806440" cy="411480"/>
          </a:xfrm>
          <a:prstGeom prst="rect">
            <a:avLst/>
          </a:prstGeom>
          <a:noFill/>
        </p:spPr>
        <p:txBody>
          <a:bodyPr wrap="square" lIns="0" rIns="0" tIns="0" bIns="0" anchor="t"/>
          <a:lstStyle/>
          <a:p>
            <a:pPr algn="l">
              <a:spcAft>
                <a:spcPts val="0"/>
              </a:spcAft>
            </a:pPr>
            <a:r>
              <a:rPr sz="1700" b="1" i="0">
                <a:solidFill>
                  <a:srgbClr val="16202C"/>
                </a:solidFill>
                <a:latin typeface="Segoe UI"/>
              </a:rPr>
              <a:t>ExpressRoute Microsoft peering</a:t>
            </a:r>
          </a:p>
        </p:txBody>
      </p:sp>
      <p:sp>
        <p:nvSpPr>
          <p:cNvPr id="21" name="TextBox 20"/>
          <p:cNvSpPr txBox="1"/>
          <p:nvPr/>
        </p:nvSpPr>
        <p:spPr>
          <a:xfrm>
            <a:off x="5623560" y="5239512"/>
            <a:ext cx="5806440" cy="685800"/>
          </a:xfrm>
          <a:prstGeom prst="rect">
            <a:avLst/>
          </a:prstGeom>
          <a:noFill/>
        </p:spPr>
        <p:txBody>
          <a:bodyPr wrap="square" lIns="0" rIns="0" tIns="0" bIns="0" anchor="t"/>
          <a:lstStyle/>
          <a:p>
            <a:pPr algn="l">
              <a:spcAft>
                <a:spcPts val="0"/>
              </a:spcAft>
            </a:pPr>
            <a:r>
              <a:rPr sz="1300" b="0" i="0">
                <a:solidFill>
                  <a:srgbClr val="5E6B7A"/>
                </a:solidFill>
                <a:latin typeface="Segoe UI"/>
              </a:rPr>
              <a:t>Public NAT prefixes and route filters · doesn't cover every Arc endpoint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One definition. Differences as data.</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8</a:t>
            </a:r>
          </a:p>
        </p:txBody>
      </p:sp>
      <p:sp>
        <p:nvSpPr>
          <p:cNvPr id="6" name="Rectangle 5"/>
          <p:cNvSpPr/>
          <p:nvPr/>
        </p:nvSpPr>
        <p:spPr>
          <a:xfrm>
            <a:off x="685800" y="1371600"/>
            <a:ext cx="4572000" cy="352044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114800" cy="274320"/>
          </a:xfrm>
          <a:prstGeom prst="rect">
            <a:avLst/>
          </a:prstGeom>
          <a:noFill/>
        </p:spPr>
        <p:txBody>
          <a:bodyPr wrap="square" lIns="0" rIns="0" tIns="0" bIns="0" anchor="t"/>
          <a:lstStyle/>
          <a:p>
            <a:pPr algn="l">
              <a:spcAft>
                <a:spcPts val="0"/>
              </a:spcAft>
            </a:pPr>
            <a:r>
              <a:rPr sz="1000" b="0" i="0">
                <a:solidFill>
                  <a:srgbClr val="6CC7E0"/>
                </a:solidFill>
                <a:latin typeface="Cascadia Code"/>
              </a:rPr>
              <a:t>kubernetes/fleet/cluster-resource-placement.yaml</a:t>
            </a:r>
          </a:p>
        </p:txBody>
      </p:sp>
      <p:sp>
        <p:nvSpPr>
          <p:cNvPr id="8" name="TextBox 7"/>
          <p:cNvSpPr txBox="1"/>
          <p:nvPr/>
        </p:nvSpPr>
        <p:spPr>
          <a:xfrm>
            <a:off x="914400" y="1828800"/>
            <a:ext cx="4114800" cy="2926080"/>
          </a:xfrm>
          <a:prstGeom prst="rect">
            <a:avLst/>
          </a:prstGeom>
          <a:noFill/>
        </p:spPr>
        <p:txBody>
          <a:bodyPr wrap="square" lIns="0" rIns="0" tIns="0" bIns="0" anchor="t"/>
          <a:lstStyle/>
          <a:p>
            <a:pPr algn="l">
              <a:spcAft>
                <a:spcPts val="0"/>
              </a:spcAft>
            </a:pPr>
            <a:r>
              <a:rPr sz="1200" b="0" i="0">
                <a:solidFill>
                  <a:srgbClr val="D7E3EE"/>
                </a:solidFill>
                <a:latin typeface="Cascadia Code"/>
              </a:rPr>
              <a:t>kind: ClusterResourcePlacement</a:t>
            </a:r>
          </a:p>
          <a:p>
            <a:pPr algn="l">
              <a:spcAft>
                <a:spcPts val="0"/>
              </a:spcAft>
            </a:pPr>
            <a:r>
              <a:rPr sz="1200" b="0" i="0">
                <a:solidFill>
                  <a:srgbClr val="D7E3EE"/>
                </a:solidFill>
                <a:latin typeface="Cascadia Code"/>
              </a:rPr>
              <a:t>metadata:</a:t>
            </a:r>
          </a:p>
          <a:p>
            <a:pPr algn="l">
              <a:spcAft>
                <a:spcPts val="0"/>
              </a:spcAft>
            </a:pPr>
            <a:r>
              <a:rPr sz="1200" b="0" i="0">
                <a:solidFill>
                  <a:srgbClr val="D7E3EE"/>
                </a:solidFill>
                <a:latin typeface="Cascadia Code"/>
              </a:rPr>
              <a:t>  name: crp-online-boutique</a:t>
            </a:r>
          </a:p>
          <a:p>
            <a:pPr algn="l">
              <a:spcAft>
                <a:spcPts val="0"/>
              </a:spcAft>
            </a:pPr>
            <a:r>
              <a:rPr sz="1200" b="0" i="0">
                <a:solidFill>
                  <a:srgbClr val="D7E3EE"/>
                </a:solidFill>
                <a:latin typeface="Cascadia Code"/>
              </a:rPr>
              <a:t>spec:</a:t>
            </a:r>
          </a:p>
          <a:p>
            <a:pPr algn="l">
              <a:spcAft>
                <a:spcPts val="0"/>
              </a:spcAft>
            </a:pPr>
            <a:r>
              <a:rPr sz="1200" b="0" i="0">
                <a:solidFill>
                  <a:srgbClr val="D7E3EE"/>
                </a:solidFill>
                <a:latin typeface="Cascadia Code"/>
              </a:rPr>
              <a:t>  resourceSelectors:</a:t>
            </a:r>
          </a:p>
          <a:p>
            <a:pPr algn="l">
              <a:spcAft>
                <a:spcPts val="0"/>
              </a:spcAft>
            </a:pPr>
            <a:r>
              <a:rPr sz="1200" b="0" i="0">
                <a:solidFill>
                  <a:srgbClr val="D7E3EE"/>
                </a:solidFill>
                <a:latin typeface="Cascadia Code"/>
              </a:rPr>
              <a:t>    - kind: Namespace</a:t>
            </a:r>
          </a:p>
          <a:p>
            <a:pPr algn="l">
              <a:spcAft>
                <a:spcPts val="0"/>
              </a:spcAft>
            </a:pPr>
            <a:r>
              <a:rPr sz="1200" b="0" i="0">
                <a:solidFill>
                  <a:srgbClr val="D7E3EE"/>
                </a:solidFill>
                <a:latin typeface="Cascadia Code"/>
              </a:rPr>
              <a:t>      name: online-boutique</a:t>
            </a:r>
          </a:p>
          <a:p>
            <a:pPr algn="l">
              <a:spcAft>
                <a:spcPts val="0"/>
              </a:spcAft>
            </a:pPr>
            <a:r>
              <a:rPr sz="1200" b="0" i="0">
                <a:solidFill>
                  <a:srgbClr val="D7E3EE"/>
                </a:solidFill>
                <a:latin typeface="Cascadia Code"/>
              </a:rPr>
              <a:t>  policy:</a:t>
            </a:r>
          </a:p>
          <a:p>
            <a:pPr algn="l">
              <a:spcAft>
                <a:spcPts val="0"/>
              </a:spcAft>
            </a:pPr>
            <a:r>
              <a:rPr sz="1200" b="0" i="0">
                <a:solidFill>
                  <a:srgbClr val="D7E3EE"/>
                </a:solidFill>
                <a:latin typeface="Cascadia Code"/>
              </a:rPr>
              <a:t>    placementType: PickAll</a:t>
            </a:r>
          </a:p>
          <a:p>
            <a:pPr algn="l">
              <a:spcAft>
                <a:spcPts val="0"/>
              </a:spcAft>
            </a:pPr>
            <a:r>
              <a:rPr sz="1200" b="0" i="0">
                <a:solidFill>
                  <a:srgbClr val="D7E3EE"/>
                </a:solidFill>
                <a:latin typeface="Cascadia Code"/>
              </a:rPr>
              <a:t>    # every member labeled</a:t>
            </a:r>
          </a:p>
          <a:p>
            <a:pPr algn="l">
              <a:spcAft>
                <a:spcPts val="0"/>
              </a:spcAft>
            </a:pPr>
            <a:r>
              <a:rPr sz="1200" b="0" i="0">
                <a:solidFill>
                  <a:srgbClr val="D7E3EE"/>
                </a:solidFill>
                <a:latin typeface="Cascadia Code"/>
              </a:rPr>
              <a:t>    # demo=equinix-arc-online-boutique</a:t>
            </a:r>
          </a:p>
        </p:txBody>
      </p:sp>
      <p:graphicFrame>
        <p:nvGraphicFramePr>
          <p:cNvPr id="9" name="Table 8"/>
          <p:cNvGraphicFramePr>
            <a:graphicFrameLocks noGrp="1"/>
          </p:cNvGraphicFramePr>
          <p:nvPr/>
        </p:nvGraphicFramePr>
        <p:xfrm>
          <a:off x="5623560" y="1371600"/>
          <a:ext cx="5989320" cy="2834640"/>
        </p:xfrm>
        <a:graphic>
          <a:graphicData uri="http://schemas.openxmlformats.org/drawingml/2006/table">
            <a:tbl>
              <a:tblPr firstRow="1">
                <a:tableStyleId>{5C22544A-7EE6-4342-B048-85BDC9FD1C3A}</a:tableStyleId>
              </a:tblPr>
              <a:tblGrid>
                <a:gridCol w="1508760"/>
                <a:gridCol w="1325880"/>
                <a:gridCol w="1691640"/>
                <a:gridCol w="1463040"/>
              </a:tblGrid>
              <a:tr h="566928">
                <a:tc>
                  <a:txBody>
                    <a:bodyPr wrap="square"/>
                    <a:lstStyle/>
                    <a:p>
                      <a:r>
                        <a:rPr sz="1250" b="1" i="0">
                          <a:solidFill>
                            <a:srgbClr val="FFFFFF"/>
                          </a:solidFill>
                          <a:latin typeface="Segoe UI"/>
                        </a:rPr>
                        <a:t>Override</a:t>
                      </a:r>
                    </a:p>
                  </a:txBody>
                  <a:tcPr marL="91440" marR="91440" marT="36576" marB="36576" anchor="ctr">
                    <a:solidFill>
                      <a:srgbClr val="0B1622"/>
                    </a:solidFill>
                  </a:tcPr>
                </a:tc>
                <a:tc>
                  <a:txBody>
                    <a:bodyPr wrap="square"/>
                    <a:lstStyle/>
                    <a:p>
                      <a:r>
                        <a:rPr sz="1250" b="1" i="0">
                          <a:solidFill>
                            <a:srgbClr val="FFFFFF"/>
                          </a:solidFill>
                          <a:latin typeface="Segoe UI"/>
                        </a:rPr>
                        <a:t>Azure</a:t>
                      </a:r>
                    </a:p>
                  </a:txBody>
                  <a:tcPr marL="91440" marR="91440" marT="36576" marB="36576" anchor="ctr">
                    <a:solidFill>
                      <a:srgbClr val="0B1622"/>
                    </a:solidFill>
                  </a:tcPr>
                </a:tc>
                <a:tc>
                  <a:txBody>
                    <a:bodyPr wrap="square"/>
                    <a:lstStyle/>
                    <a:p>
                      <a:r>
                        <a:rPr sz="1250" b="1" i="0">
                          <a:solidFill>
                            <a:srgbClr val="FFFFFF"/>
                          </a:solidFill>
                          <a:latin typeface="Segoe UI"/>
                        </a:rPr>
                        <a:t>AWS</a:t>
                      </a:r>
                    </a:p>
                  </a:txBody>
                  <a:tcPr marL="91440" marR="91440" marT="36576" marB="36576" anchor="ctr">
                    <a:solidFill>
                      <a:srgbClr val="0B1622"/>
                    </a:solidFill>
                  </a:tcPr>
                </a:tc>
                <a:tc>
                  <a:txBody>
                    <a:bodyPr wrap="square"/>
                    <a:lstStyle/>
                    <a:p>
                      <a:r>
                        <a:rPr sz="1250" b="1" i="0">
                          <a:solidFill>
                            <a:srgbClr val="FFFFFF"/>
                          </a:solidFill>
                          <a:latin typeface="Segoe UI"/>
                        </a:rPr>
                        <a:t>Equinix</a:t>
                      </a:r>
                    </a:p>
                  </a:txBody>
                  <a:tcPr marL="91440" marR="91440" marT="36576" marB="36576" anchor="ctr">
                    <a:solidFill>
                      <a:srgbClr val="0B1622"/>
                    </a:solidFill>
                  </a:tcPr>
                </a:tc>
              </a:tr>
              <a:tr h="566928">
                <a:tc>
                  <a:txBody>
                    <a:bodyPr wrap="square"/>
                    <a:lstStyle/>
                    <a:p>
                      <a:r>
                        <a:rPr sz="1250" b="1" i="0">
                          <a:solidFill>
                            <a:srgbClr val="16202C"/>
                          </a:solidFill>
                          <a:latin typeface="Segoe UI"/>
                        </a:rPr>
                        <a:t>LB Service</a:t>
                      </a:r>
                    </a:p>
                  </a:txBody>
                  <a:tcPr marL="91440" marR="91440" marT="36576" marB="36576" anchor="ctr">
                    <a:solidFill>
                      <a:srgbClr val="FFFFFF"/>
                    </a:solidFill>
                  </a:tcPr>
                </a:tc>
                <a:tc>
                  <a:txBody>
                    <a:bodyPr wrap="square"/>
                    <a:lstStyle/>
                    <a:p>
                      <a:r>
                        <a:rPr sz="1250" b="0" i="0">
                          <a:solidFill>
                            <a:srgbClr val="16202C"/>
                          </a:solidFill>
                          <a:latin typeface="Segoe UI"/>
                        </a:rPr>
                        <a:t>health probe</a:t>
                      </a:r>
                    </a:p>
                  </a:txBody>
                  <a:tcPr marL="91440" marR="91440" marT="36576" marB="36576" anchor="ctr">
                    <a:solidFill>
                      <a:srgbClr val="FFFFFF"/>
                    </a:solidFill>
                  </a:tcPr>
                </a:tc>
                <a:tc>
                  <a:txBody>
                    <a:bodyPr wrap="square"/>
                    <a:lstStyle/>
                    <a:p>
                      <a:r>
                        <a:rPr sz="1250" b="0" i="0">
                          <a:solidFill>
                            <a:srgbClr val="16202C"/>
                          </a:solidFill>
                          <a:latin typeface="Segoe UI"/>
                        </a:rPr>
                        <a:t>NLB, internet-facing</a:t>
                      </a:r>
                    </a:p>
                  </a:txBody>
                  <a:tcPr marL="91440" marR="91440" marT="36576" marB="36576" anchor="ctr">
                    <a:solidFill>
                      <a:srgbClr val="FFFFFF"/>
                    </a:solidFill>
                  </a:tcPr>
                </a:tc>
                <a:tc>
                  <a:txBody>
                    <a:bodyPr wrap="square"/>
                    <a:lstStyle/>
                    <a:p>
                      <a:r>
                        <a:rPr sz="1250" b="0" i="0">
                          <a:solidFill>
                            <a:srgbClr val="16202C"/>
                          </a:solidFill>
                          <a:latin typeface="Segoe UI"/>
                        </a:rPr>
                        <a:t>node IPs over ER</a:t>
                      </a:r>
                    </a:p>
                  </a:txBody>
                  <a:tcPr marL="91440" marR="91440" marT="36576" marB="36576" anchor="ctr">
                    <a:solidFill>
                      <a:srgbClr val="FDF0F3"/>
                    </a:solidFill>
                  </a:tcPr>
                </a:tc>
              </a:tr>
              <a:tr h="566928">
                <a:tc>
                  <a:txBody>
                    <a:bodyPr wrap="square"/>
                    <a:lstStyle/>
                    <a:p>
                      <a:r>
                        <a:rPr sz="1250" b="1" i="0">
                          <a:solidFill>
                            <a:srgbClr val="16202C"/>
                          </a:solidFill>
                          <a:latin typeface="Segoe UI"/>
                        </a:rPr>
                        <a:t>ENV_PLATFORM</a:t>
                      </a:r>
                    </a:p>
                  </a:txBody>
                  <a:tcPr marL="91440" marR="91440" marT="36576" marB="36576" anchor="ctr">
                    <a:solidFill>
                      <a:srgbClr val="EEF2F6"/>
                    </a:solidFill>
                  </a:tcPr>
                </a:tc>
                <a:tc>
                  <a:txBody>
                    <a:bodyPr wrap="square"/>
                    <a:lstStyle/>
                    <a:p>
                      <a:r>
                        <a:rPr sz="1250" b="0" i="0">
                          <a:solidFill>
                            <a:srgbClr val="16202C"/>
                          </a:solidFill>
                          <a:latin typeface="Segoe UI"/>
                        </a:rPr>
                        <a:t>azure</a:t>
                      </a:r>
                    </a:p>
                  </a:txBody>
                  <a:tcPr marL="91440" marR="91440" marT="36576" marB="36576" anchor="ctr">
                    <a:solidFill>
                      <a:srgbClr val="EEF2F6"/>
                    </a:solidFill>
                  </a:tcPr>
                </a:tc>
                <a:tc>
                  <a:txBody>
                    <a:bodyPr wrap="square"/>
                    <a:lstStyle/>
                    <a:p>
                      <a:r>
                        <a:rPr sz="1250" b="0" i="0">
                          <a:solidFill>
                            <a:srgbClr val="16202C"/>
                          </a:solidFill>
                          <a:latin typeface="Segoe UI"/>
                        </a:rPr>
                        <a:t>aws</a:t>
                      </a:r>
                    </a:p>
                  </a:txBody>
                  <a:tcPr marL="91440" marR="91440" marT="36576" marB="36576" anchor="ctr">
                    <a:solidFill>
                      <a:srgbClr val="EEF2F6"/>
                    </a:solidFill>
                  </a:tcPr>
                </a:tc>
                <a:tc>
                  <a:txBody>
                    <a:bodyPr wrap="square"/>
                    <a:lstStyle/>
                    <a:p>
                      <a:r>
                        <a:rPr sz="1250" b="0" i="0">
                          <a:solidFill>
                            <a:srgbClr val="16202C"/>
                          </a:solidFill>
                          <a:latin typeface="Segoe UI"/>
                        </a:rPr>
                        <a:t>onprem</a:t>
                      </a:r>
                    </a:p>
                  </a:txBody>
                  <a:tcPr marL="91440" marR="91440" marT="36576" marB="36576" anchor="ctr">
                    <a:solidFill>
                      <a:srgbClr val="FDF0F3"/>
                    </a:solidFill>
                  </a:tcPr>
                </a:tc>
              </a:tr>
              <a:tr h="566928">
                <a:tc>
                  <a:txBody>
                    <a:bodyPr wrap="square"/>
                    <a:lstStyle/>
                    <a:p>
                      <a:r>
                        <a:rPr sz="1250" b="1" i="0">
                          <a:solidFill>
                            <a:srgbClr val="16202C"/>
                          </a:solidFill>
                          <a:latin typeface="Segoe UI"/>
                        </a:rPr>
                        <a:t>Store banner</a:t>
                      </a:r>
                    </a:p>
                  </a:txBody>
                  <a:tcPr marL="91440" marR="91440" marT="36576" marB="36576" anchor="ctr">
                    <a:solidFill>
                      <a:srgbClr val="FFFFFF"/>
                    </a:solidFill>
                  </a:tcPr>
                </a:tc>
                <a:tc>
                  <a:txBody>
                    <a:bodyPr wrap="square"/>
                    <a:lstStyle/>
                    <a:p>
                      <a:r>
                        <a:rPr sz="1250" b="0" i="0">
                          <a:solidFill>
                            <a:srgbClr val="16202C"/>
                          </a:solidFill>
                          <a:latin typeface="Segoe UI"/>
                        </a:rPr>
                        <a:t>Azure</a:t>
                      </a:r>
                    </a:p>
                  </a:txBody>
                  <a:tcPr marL="91440" marR="91440" marT="36576" marB="36576" anchor="ctr">
                    <a:solidFill>
                      <a:srgbClr val="FFFFFF"/>
                    </a:solidFill>
                  </a:tcPr>
                </a:tc>
                <a:tc>
                  <a:txBody>
                    <a:bodyPr wrap="square"/>
                    <a:lstStyle/>
                    <a:p>
                      <a:r>
                        <a:rPr sz="1250" b="0" i="0">
                          <a:solidFill>
                            <a:srgbClr val="16202C"/>
                          </a:solidFill>
                          <a:latin typeface="Segoe UI"/>
                        </a:rPr>
                        <a:t>AWS</a:t>
                      </a:r>
                    </a:p>
                  </a:txBody>
                  <a:tcPr marL="91440" marR="91440" marT="36576" marB="36576" anchor="ctr">
                    <a:solidFill>
                      <a:srgbClr val="FFFFFF"/>
                    </a:solidFill>
                  </a:tcPr>
                </a:tc>
                <a:tc>
                  <a:txBody>
                    <a:bodyPr wrap="square"/>
                    <a:lstStyle/>
                    <a:p>
                      <a:r>
                        <a:rPr sz="1250" b="0" i="0">
                          <a:solidFill>
                            <a:srgbClr val="16202C"/>
                          </a:solidFill>
                          <a:latin typeface="Segoe UI"/>
                        </a:rPr>
                        <a:t>On-Premises</a:t>
                      </a:r>
                    </a:p>
                  </a:txBody>
                  <a:tcPr marL="91440" marR="91440" marT="36576" marB="36576" anchor="ctr">
                    <a:solidFill>
                      <a:srgbClr val="FDF0F3"/>
                    </a:solidFill>
                  </a:tcPr>
                </a:tc>
              </a:tr>
              <a:tr h="566928">
                <a:tc>
                  <a:txBody>
                    <a:bodyPr wrap="square"/>
                    <a:lstStyle/>
                    <a:p>
                      <a:r>
                        <a:rPr sz="1250" b="1" i="0">
                          <a:solidFill>
                            <a:srgbClr val="16202C"/>
                          </a:solidFill>
                          <a:latin typeface="Segoe UI"/>
                        </a:rPr>
                        <a:t>Redis marker</a:t>
                      </a:r>
                    </a:p>
                  </a:txBody>
                  <a:tcPr marL="91440" marR="91440" marT="36576" marB="36576" anchor="ctr">
                    <a:solidFill>
                      <a:srgbClr val="EEF2F6"/>
                    </a:solidFill>
                  </a:tcPr>
                </a:tc>
                <a:tc>
                  <a:txBody>
                    <a:bodyPr wrap="square"/>
                    <a:lstStyle/>
                    <a:p>
                      <a:r>
                        <a:rPr sz="1250" b="0" i="0">
                          <a:solidFill>
                            <a:srgbClr val="16202C"/>
                          </a:solidFill>
                          <a:latin typeface="Segoe UI"/>
                        </a:rPr>
                        <a:t>cloud=azure</a:t>
                      </a:r>
                    </a:p>
                  </a:txBody>
                  <a:tcPr marL="91440" marR="91440" marT="36576" marB="36576" anchor="ctr">
                    <a:solidFill>
                      <a:srgbClr val="EEF2F6"/>
                    </a:solidFill>
                  </a:tcPr>
                </a:tc>
                <a:tc>
                  <a:txBody>
                    <a:bodyPr wrap="square"/>
                    <a:lstStyle/>
                    <a:p>
                      <a:r>
                        <a:rPr sz="1250" b="0" i="0">
                          <a:solidFill>
                            <a:srgbClr val="16202C"/>
                          </a:solidFill>
                          <a:latin typeface="Segoe UI"/>
                        </a:rPr>
                        <a:t>cloud=aws</a:t>
                      </a:r>
                    </a:p>
                  </a:txBody>
                  <a:tcPr marL="91440" marR="91440" marT="36576" marB="36576" anchor="ctr">
                    <a:solidFill>
                      <a:srgbClr val="EEF2F6"/>
                    </a:solidFill>
                  </a:tcPr>
                </a:tc>
                <a:tc>
                  <a:txBody>
                    <a:bodyPr wrap="square"/>
                    <a:lstStyle/>
                    <a:p>
                      <a:r>
                        <a:rPr sz="1250" b="0" i="0">
                          <a:solidFill>
                            <a:srgbClr val="16202C"/>
                          </a:solidFill>
                          <a:latin typeface="Segoe UI"/>
                        </a:rPr>
                        <a:t>cloud=equinix</a:t>
                      </a:r>
                    </a:p>
                  </a:txBody>
                  <a:tcPr marL="91440" marR="91440" marT="36576" marB="36576" anchor="ctr">
                    <a:solidFill>
                      <a:srgbClr val="FDF0F3"/>
                    </a:solidFill>
                  </a:tcPr>
                </a:tc>
              </a:tr>
            </a:tbl>
          </a:graphicData>
        </a:graphic>
      </p:graphicFrame>
      <p:sp>
        <p:nvSpPr>
          <p:cNvPr id="10" name="TextBox 9"/>
          <p:cNvSpPr txBox="1"/>
          <p:nvPr/>
        </p:nvSpPr>
        <p:spPr>
          <a:xfrm>
            <a:off x="5623560" y="4343400"/>
            <a:ext cx="5989320" cy="914400"/>
          </a:xfrm>
          <a:prstGeom prst="rect">
            <a:avLst/>
          </a:prstGeom>
          <a:noFill/>
        </p:spPr>
        <p:txBody>
          <a:bodyPr wrap="square" lIns="0" rIns="0" tIns="0" bIns="0" anchor="t"/>
          <a:lstStyle/>
          <a:p>
            <a:pPr algn="l">
              <a:spcAft>
                <a:spcPts val="400"/>
              </a:spcAft>
            </a:pPr>
            <a:r>
              <a:rPr sz="1400" b="0" i="0">
                <a:solidFill>
                  <a:srgbClr val="5E6B7A"/>
                </a:solidFill>
                <a:latin typeface="Segoe UI"/>
              </a:rPr>
              <a:t>Selected by member labels: cloud · provider · connectivity · site.</a:t>
            </a:r>
          </a:p>
          <a:p>
            <a:pPr algn="l">
              <a:spcAft>
                <a:spcPts val="400"/>
              </a:spcAft>
            </a:pPr>
            <a:r>
              <a:rPr sz="1400" b="0" i="0">
                <a:solidFill>
                  <a:srgbClr val="5E6B7A"/>
                </a:solidFill>
                <a:latin typeface="Segoe UI"/>
              </a:rPr>
              <a:t>A fourth site = one more rule per override.</a:t>
            </a:r>
          </a:p>
        </p:txBody>
      </p:sp>
      <p:sp>
        <p:nvSpPr>
          <p:cNvPr id="11" name="Rounded Rectangle 10"/>
          <p:cNvSpPr/>
          <p:nvPr/>
        </p:nvSpPr>
        <p:spPr>
          <a:xfrm>
            <a:off x="685800" y="5212080"/>
            <a:ext cx="10927080" cy="685800"/>
          </a:xfrm>
          <a:prstGeom prst="roundRect">
            <a:avLst>
              <a:gd name="adj" fmla="val 10000"/>
            </a:avLst>
          </a:prstGeom>
          <a:solidFill>
            <a:srgbClr val="FDE9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12080"/>
            <a:ext cx="10378440" cy="685800"/>
          </a:xfrm>
          <a:prstGeom prst="rect">
            <a:avLst/>
          </a:prstGeom>
          <a:noFill/>
        </p:spPr>
        <p:txBody>
          <a:bodyPr wrap="square" lIns="0" rIns="0" tIns="0" bIns="0" anchor="ctr"/>
          <a:lstStyle/>
          <a:p>
            <a:pPr algn="l">
              <a:spcAft>
                <a:spcPts val="0"/>
              </a:spcAft>
            </a:pPr>
            <a:r>
              <a:rPr sz="1400" b="1" i="0">
                <a:solidFill>
                  <a:srgbClr val="E4002B"/>
                </a:solidFill>
                <a:latin typeface="Segoe UI"/>
              </a:rPr>
              <a:t>The base never forks. </a:t>
            </a:r>
            <a:r>
              <a:rPr sz="1400" b="0" i="0">
                <a:solidFill>
                  <a:srgbClr val="16202C"/>
                </a:solidFill>
                <a:latin typeface="Segoe UI"/>
              </a:rPr>
              <a:t>kubernetes/base has zero cloud references — Fleet applies the differences at placement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622"/>
        </a:solidFill>
        <a:effectLst/>
      </p:bgPr>
    </p:bg>
    <p:spTree>
      <p:nvGrpSpPr>
        <p:cNvPr id="1" name=""/>
        <p:cNvGrpSpPr/>
        <p:nvPr/>
      </p:nvGrpSpPr>
      <p:grpSpPr/>
      <p:sp>
        <p:nvSpPr>
          <p:cNvPr id="2" name="TextBox 1"/>
          <p:cNvSpPr txBox="1"/>
          <p:nvPr/>
        </p:nvSpPr>
        <p:spPr>
          <a:xfrm>
            <a:off x="685800" y="822960"/>
            <a:ext cx="5486400" cy="1188720"/>
          </a:xfrm>
          <a:prstGeom prst="rect">
            <a:avLst/>
          </a:prstGeom>
          <a:noFill/>
        </p:spPr>
        <p:txBody>
          <a:bodyPr wrap="square" lIns="0" rIns="0" tIns="0" bIns="0" anchor="t"/>
          <a:lstStyle/>
          <a:p>
            <a:pPr algn="l">
              <a:spcAft>
                <a:spcPts val="0"/>
              </a:spcAft>
            </a:pPr>
            <a:r>
              <a:rPr sz="6600" b="0" i="0">
                <a:solidFill>
                  <a:srgbClr val="FFFFFF"/>
                </a:solidFill>
                <a:latin typeface="Bahnschrift SemiBold"/>
              </a:rPr>
              <a:t>Demo</a:t>
            </a:r>
          </a:p>
        </p:txBody>
      </p:sp>
      <p:sp>
        <p:nvSpPr>
          <p:cNvPr id="3" name="TextBox 2"/>
          <p:cNvSpPr txBox="1"/>
          <p:nvPr/>
        </p:nvSpPr>
        <p:spPr>
          <a:xfrm>
            <a:off x="685800" y="1965960"/>
            <a:ext cx="8229600" cy="457200"/>
          </a:xfrm>
          <a:prstGeom prst="rect">
            <a:avLst/>
          </a:prstGeom>
          <a:noFill/>
        </p:spPr>
        <p:txBody>
          <a:bodyPr wrap="square" lIns="0" rIns="0" tIns="0" bIns="0" anchor="t"/>
          <a:lstStyle/>
          <a:p>
            <a:pPr algn="l">
              <a:spcAft>
                <a:spcPts val="0"/>
              </a:spcAft>
            </a:pPr>
            <a:r>
              <a:rPr sz="1700" b="0" i="0">
                <a:solidFill>
                  <a:srgbClr val="C9D3DD"/>
                </a:solidFill>
                <a:latin typeface="Segoe UI"/>
              </a:rPr>
              <a:t>About 12 minutes · everything shown is in the repo</a:t>
            </a:r>
          </a:p>
        </p:txBody>
      </p:sp>
      <p:cxnSp>
        <p:nvCxnSpPr>
          <p:cNvPr id="4" name="Connector 3"/>
          <p:cNvCxnSpPr/>
          <p:nvPr/>
        </p:nvCxnSpPr>
        <p:spPr>
          <a:xfrm>
            <a:off x="1371600" y="3977639"/>
            <a:ext cx="8961120" cy="0"/>
          </a:xfrm>
          <a:prstGeom prst="line">
            <a:avLst/>
          </a:prstGeom>
          <a:ln w="50800">
            <a:solidFill>
              <a:srgbClr val="E4002B"/>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87552" y="3593591"/>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Bahnschrift SemiBold"/>
              </a:rPr>
              <a:t>1</a:t>
            </a:r>
          </a:p>
        </p:txBody>
      </p:sp>
      <p:sp>
        <p:nvSpPr>
          <p:cNvPr id="6" name="TextBox 5"/>
          <p:cNvSpPr txBox="1"/>
          <p:nvPr/>
        </p:nvSpPr>
        <p:spPr>
          <a:xfrm>
            <a:off x="365759" y="4572000"/>
            <a:ext cx="2011680" cy="822960"/>
          </a:xfrm>
          <a:prstGeom prst="rect">
            <a:avLst/>
          </a:prstGeom>
          <a:noFill/>
        </p:spPr>
        <p:txBody>
          <a:bodyPr wrap="square" lIns="0" rIns="0" tIns="0" bIns="0" anchor="t"/>
          <a:lstStyle/>
          <a:p>
            <a:pPr algn="ctr">
              <a:spcAft>
                <a:spcPts val="0"/>
              </a:spcAft>
            </a:pPr>
            <a:r>
              <a:rPr sz="1500" b="0" i="0">
                <a:solidFill>
                  <a:srgbClr val="FFFFFF"/>
                </a:solidFill>
                <a:latin typeface="Segoe UI"/>
              </a:rPr>
              <a:t>Fleet members and labels</a:t>
            </a:r>
          </a:p>
        </p:txBody>
      </p:sp>
      <p:sp>
        <p:nvSpPr>
          <p:cNvPr id="7" name="Oval 6"/>
          <p:cNvSpPr/>
          <p:nvPr/>
        </p:nvSpPr>
        <p:spPr>
          <a:xfrm>
            <a:off x="3227832" y="3593591"/>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Bahnschrift SemiBold"/>
              </a:rPr>
              <a:t>2</a:t>
            </a:r>
          </a:p>
        </p:txBody>
      </p:sp>
      <p:sp>
        <p:nvSpPr>
          <p:cNvPr id="8" name="TextBox 7"/>
          <p:cNvSpPr txBox="1"/>
          <p:nvPr/>
        </p:nvSpPr>
        <p:spPr>
          <a:xfrm>
            <a:off x="2606040" y="4572000"/>
            <a:ext cx="2011680" cy="822960"/>
          </a:xfrm>
          <a:prstGeom prst="rect">
            <a:avLst/>
          </a:prstGeom>
          <a:noFill/>
        </p:spPr>
        <p:txBody>
          <a:bodyPr wrap="square" lIns="0" rIns="0" tIns="0" bIns="0" anchor="t"/>
          <a:lstStyle/>
          <a:p>
            <a:pPr algn="ctr">
              <a:spcAft>
                <a:spcPts val="0"/>
              </a:spcAft>
            </a:pPr>
            <a:r>
              <a:rPr sz="1500" b="0" i="0">
                <a:solidFill>
                  <a:srgbClr val="FFFFFF"/>
                </a:solidFill>
                <a:latin typeface="Segoe UI"/>
              </a:rPr>
              <a:t>Proof of the private path</a:t>
            </a:r>
          </a:p>
        </p:txBody>
      </p:sp>
      <p:sp>
        <p:nvSpPr>
          <p:cNvPr id="9" name="Oval 8"/>
          <p:cNvSpPr/>
          <p:nvPr/>
        </p:nvSpPr>
        <p:spPr>
          <a:xfrm>
            <a:off x="5468112" y="3593591"/>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Bahnschrift SemiBold"/>
              </a:rPr>
              <a:t>3</a:t>
            </a:r>
          </a:p>
        </p:txBody>
      </p:sp>
      <p:sp>
        <p:nvSpPr>
          <p:cNvPr id="10" name="TextBox 9"/>
          <p:cNvSpPr txBox="1"/>
          <p:nvPr/>
        </p:nvSpPr>
        <p:spPr>
          <a:xfrm>
            <a:off x="4846320" y="4572000"/>
            <a:ext cx="2011680" cy="822960"/>
          </a:xfrm>
          <a:prstGeom prst="rect">
            <a:avLst/>
          </a:prstGeom>
          <a:noFill/>
        </p:spPr>
        <p:txBody>
          <a:bodyPr wrap="square" lIns="0" rIns="0" tIns="0" bIns="0" anchor="t"/>
          <a:lstStyle/>
          <a:p>
            <a:pPr algn="ctr">
              <a:spcAft>
                <a:spcPts val="0"/>
              </a:spcAft>
            </a:pPr>
            <a:r>
              <a:rPr sz="1500" b="0" i="0">
                <a:solidFill>
                  <a:srgbClr val="FFFFFF"/>
                </a:solidFill>
                <a:latin typeface="Segoe UI"/>
              </a:rPr>
              <a:t>One definition + overrides</a:t>
            </a:r>
          </a:p>
        </p:txBody>
      </p:sp>
      <p:sp>
        <p:nvSpPr>
          <p:cNvPr id="11" name="Oval 10"/>
          <p:cNvSpPr/>
          <p:nvPr/>
        </p:nvSpPr>
        <p:spPr>
          <a:xfrm>
            <a:off x="7708392" y="3593591"/>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Bahnschrift SemiBold"/>
              </a:rPr>
              <a:t>4</a:t>
            </a:r>
          </a:p>
        </p:txBody>
      </p:sp>
      <p:sp>
        <p:nvSpPr>
          <p:cNvPr id="12" name="TextBox 11"/>
          <p:cNvSpPr txBox="1"/>
          <p:nvPr/>
        </p:nvSpPr>
        <p:spPr>
          <a:xfrm>
            <a:off x="7086600" y="4572000"/>
            <a:ext cx="2011680" cy="822960"/>
          </a:xfrm>
          <a:prstGeom prst="rect">
            <a:avLst/>
          </a:prstGeom>
          <a:noFill/>
        </p:spPr>
        <p:txBody>
          <a:bodyPr wrap="square" lIns="0" rIns="0" tIns="0" bIns="0" anchor="t"/>
          <a:lstStyle/>
          <a:p>
            <a:pPr algn="ctr">
              <a:spcAft>
                <a:spcPts val="0"/>
              </a:spcAft>
            </a:pPr>
            <a:r>
              <a:rPr sz="1500" b="0" i="0">
                <a:solidFill>
                  <a:srgbClr val="FFFFFF"/>
                </a:solidFill>
                <a:latin typeface="Segoe UI"/>
              </a:rPr>
              <a:t>Three storefronts</a:t>
            </a:r>
          </a:p>
        </p:txBody>
      </p:sp>
      <p:sp>
        <p:nvSpPr>
          <p:cNvPr id="13" name="Oval 12"/>
          <p:cNvSpPr/>
          <p:nvPr/>
        </p:nvSpPr>
        <p:spPr>
          <a:xfrm>
            <a:off x="9948672" y="3593591"/>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0" i="0">
                <a:solidFill>
                  <a:srgbClr val="FFFFFF"/>
                </a:solidFill>
                <a:latin typeface="Bahnschrift SemiBold"/>
              </a:rPr>
              <a:t>5</a:t>
            </a:r>
          </a:p>
        </p:txBody>
      </p:sp>
      <p:sp>
        <p:nvSpPr>
          <p:cNvPr id="14" name="TextBox 13"/>
          <p:cNvSpPr txBox="1"/>
          <p:nvPr/>
        </p:nvSpPr>
        <p:spPr>
          <a:xfrm>
            <a:off x="9326880" y="4572000"/>
            <a:ext cx="2011680" cy="822960"/>
          </a:xfrm>
          <a:prstGeom prst="rect">
            <a:avLst/>
          </a:prstGeom>
          <a:noFill/>
        </p:spPr>
        <p:txBody>
          <a:bodyPr wrap="square" lIns="0" rIns="0" tIns="0" bIns="0" anchor="t"/>
          <a:lstStyle/>
          <a:p>
            <a:pPr algn="ctr">
              <a:spcAft>
                <a:spcPts val="0"/>
              </a:spcAft>
            </a:pPr>
            <a:r>
              <a:rPr sz="1500" b="0" i="0">
                <a:solidFill>
                  <a:srgbClr val="FFFFFF"/>
                </a:solidFill>
                <a:latin typeface="Segoe UI"/>
              </a:rPr>
              <a:t>Live change via Arc Cluster Connect</a:t>
            </a:r>
          </a:p>
        </p:txBody>
      </p:sp>
      <p:sp>
        <p:nvSpPr>
          <p:cNvPr id="15" name="TextBox 14"/>
          <p:cNvSpPr txBox="1"/>
          <p:nvPr/>
        </p:nvSpPr>
        <p:spPr>
          <a:xfrm>
            <a:off x="685800" y="5897880"/>
            <a:ext cx="10789920" cy="411480"/>
          </a:xfrm>
          <a:prstGeom prst="rect">
            <a:avLst/>
          </a:prstGeom>
          <a:noFill/>
        </p:spPr>
        <p:txBody>
          <a:bodyPr wrap="square" lIns="0" rIns="0" tIns="0" bIns="0" anchor="t"/>
          <a:lstStyle/>
          <a:p>
            <a:pPr algn="l">
              <a:spcAft>
                <a:spcPts val="0"/>
              </a:spcAft>
            </a:pPr>
            <a:r>
              <a:rPr sz="1300" b="1" i="0">
                <a:solidFill>
                  <a:srgbClr val="E4002B"/>
                </a:solidFill>
                <a:latin typeface="Segoe UI"/>
              </a:rPr>
              <a:t>Fallbacks ready:  </a:t>
            </a:r>
            <a:r>
              <a:rPr sz="1300" b="0" i="0">
                <a:solidFill>
                  <a:srgbClr val="C9D3DD"/>
                </a:solidFill>
                <a:latin typeface="Segoe UI"/>
              </a:rPr>
              <a:t>pre-captured proof panel  ·  Arc Cluster Connect port-forward  ·  recorded video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What you just saw</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10</a:t>
            </a:r>
          </a:p>
        </p:txBody>
      </p:sp>
      <p:sp>
        <p:nvSpPr>
          <p:cNvPr id="6" name="Rectangle 5"/>
          <p:cNvSpPr/>
          <p:nvPr/>
        </p:nvSpPr>
        <p:spPr>
          <a:xfrm>
            <a:off x="685800" y="1463040"/>
            <a:ext cx="3474720" cy="178308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32688" y="1819656"/>
            <a:ext cx="603504" cy="603504"/>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0" i="0">
                <a:solidFill>
                  <a:srgbClr val="FFFFFF"/>
                </a:solidFill>
                <a:latin typeface="Segoe UI Symbol"/>
              </a:rPr>
              <a:t>✓</a:t>
            </a:r>
          </a:p>
        </p:txBody>
      </p:sp>
      <p:sp>
        <p:nvSpPr>
          <p:cNvPr id="8" name="TextBox 7"/>
          <p:cNvSpPr txBox="1"/>
          <p:nvPr/>
        </p:nvSpPr>
        <p:spPr>
          <a:xfrm>
            <a:off x="1691640" y="1847088"/>
            <a:ext cx="2377440" cy="566928"/>
          </a:xfrm>
          <a:prstGeom prst="rect">
            <a:avLst/>
          </a:prstGeom>
          <a:noFill/>
        </p:spPr>
        <p:txBody>
          <a:bodyPr wrap="square" lIns="0" rIns="0" tIns="0" bIns="0" anchor="ctr"/>
          <a:lstStyle/>
          <a:p>
            <a:pPr algn="l">
              <a:spcAft>
                <a:spcPts val="0"/>
              </a:spcAft>
            </a:pPr>
            <a:r>
              <a:rPr sz="1600" b="1" i="0">
                <a:solidFill>
                  <a:srgbClr val="16202C"/>
                </a:solidFill>
                <a:latin typeface="Segoe UI"/>
              </a:rPr>
              <a:t>Fabric: PROVISIONED</a:t>
            </a:r>
          </a:p>
        </p:txBody>
      </p:sp>
      <p:sp>
        <p:nvSpPr>
          <p:cNvPr id="9" name="TextBox 8"/>
          <p:cNvSpPr txBox="1"/>
          <p:nvPr/>
        </p:nvSpPr>
        <p:spPr>
          <a:xfrm>
            <a:off x="1005840" y="2560320"/>
            <a:ext cx="3017520" cy="548640"/>
          </a:xfrm>
          <a:prstGeom prst="rect">
            <a:avLst/>
          </a:prstGeom>
          <a:noFill/>
        </p:spPr>
        <p:txBody>
          <a:bodyPr wrap="square" lIns="0" rIns="0" tIns="0" bIns="0" anchor="t"/>
          <a:lstStyle/>
          <a:p>
            <a:pPr algn="l">
              <a:spcAft>
                <a:spcPts val="0"/>
              </a:spcAft>
            </a:pPr>
            <a:r>
              <a:rPr sz="1300" b="0" i="0">
                <a:solidFill>
                  <a:srgbClr val="5E6B7A"/>
                </a:solidFill>
                <a:latin typeface="Segoe UI"/>
              </a:rPr>
              <a:t>Equinix Fabric · redundant connections</a:t>
            </a:r>
          </a:p>
        </p:txBody>
      </p:sp>
      <p:sp>
        <p:nvSpPr>
          <p:cNvPr id="10" name="Rectangle 9"/>
          <p:cNvSpPr/>
          <p:nvPr/>
        </p:nvSpPr>
        <p:spPr>
          <a:xfrm>
            <a:off x="4389120" y="1463040"/>
            <a:ext cx="3474720" cy="178308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36007" y="1819656"/>
            <a:ext cx="603504" cy="603504"/>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0" i="0">
                <a:solidFill>
                  <a:srgbClr val="FFFFFF"/>
                </a:solidFill>
                <a:latin typeface="Segoe UI Symbol"/>
              </a:rPr>
              <a:t>✓</a:t>
            </a:r>
          </a:p>
        </p:txBody>
      </p:sp>
      <p:sp>
        <p:nvSpPr>
          <p:cNvPr id="12" name="TextBox 11"/>
          <p:cNvSpPr txBox="1"/>
          <p:nvPr/>
        </p:nvSpPr>
        <p:spPr>
          <a:xfrm>
            <a:off x="5394960" y="1847088"/>
            <a:ext cx="2377440" cy="566928"/>
          </a:xfrm>
          <a:prstGeom prst="rect">
            <a:avLst/>
          </a:prstGeom>
          <a:noFill/>
        </p:spPr>
        <p:txBody>
          <a:bodyPr wrap="square" lIns="0" rIns="0" tIns="0" bIns="0" anchor="ctr"/>
          <a:lstStyle/>
          <a:p>
            <a:pPr algn="l">
              <a:spcAft>
                <a:spcPts val="0"/>
              </a:spcAft>
            </a:pPr>
            <a:r>
              <a:rPr sz="1600" b="1" i="0">
                <a:solidFill>
                  <a:srgbClr val="16202C"/>
                </a:solidFill>
                <a:latin typeface="Segoe UI"/>
              </a:rPr>
              <a:t>BGP: routes learned</a:t>
            </a:r>
          </a:p>
        </p:txBody>
      </p:sp>
      <p:sp>
        <p:nvSpPr>
          <p:cNvPr id="13" name="TextBox 12"/>
          <p:cNvSpPr txBox="1"/>
          <p:nvPr/>
        </p:nvSpPr>
        <p:spPr>
          <a:xfrm>
            <a:off x="4709159" y="2560320"/>
            <a:ext cx="3017520" cy="548640"/>
          </a:xfrm>
          <a:prstGeom prst="rect">
            <a:avLst/>
          </a:prstGeom>
          <a:noFill/>
        </p:spPr>
        <p:txBody>
          <a:bodyPr wrap="square" lIns="0" rIns="0" tIns="0" bIns="0" anchor="t"/>
          <a:lstStyle/>
          <a:p>
            <a:pPr algn="l">
              <a:spcAft>
                <a:spcPts val="0"/>
              </a:spcAft>
            </a:pPr>
            <a:r>
              <a:rPr sz="1300" b="0" i="0">
                <a:solidFill>
                  <a:srgbClr val="5E6B7A"/>
                </a:solidFill>
                <a:latin typeface="Segoe UI"/>
              </a:rPr>
              <a:t>10.80.0.0/24 at the Azure ER gateway</a:t>
            </a:r>
          </a:p>
        </p:txBody>
      </p:sp>
      <p:sp>
        <p:nvSpPr>
          <p:cNvPr id="14" name="Rectangle 13"/>
          <p:cNvSpPr/>
          <p:nvPr/>
        </p:nvSpPr>
        <p:spPr>
          <a:xfrm>
            <a:off x="8092440" y="1463040"/>
            <a:ext cx="3474720" cy="178308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39327" y="1819656"/>
            <a:ext cx="603504" cy="603504"/>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0" i="0">
                <a:solidFill>
                  <a:srgbClr val="FFFFFF"/>
                </a:solidFill>
                <a:latin typeface="Segoe UI Symbol"/>
              </a:rPr>
              <a:t>✓</a:t>
            </a:r>
          </a:p>
        </p:txBody>
      </p:sp>
      <p:sp>
        <p:nvSpPr>
          <p:cNvPr id="16" name="TextBox 15"/>
          <p:cNvSpPr txBox="1"/>
          <p:nvPr/>
        </p:nvSpPr>
        <p:spPr>
          <a:xfrm>
            <a:off x="9098280" y="1847088"/>
            <a:ext cx="2377440" cy="566928"/>
          </a:xfrm>
          <a:prstGeom prst="rect">
            <a:avLst/>
          </a:prstGeom>
          <a:noFill/>
        </p:spPr>
        <p:txBody>
          <a:bodyPr wrap="square" lIns="0" rIns="0" tIns="0" bIns="0" anchor="ctr"/>
          <a:lstStyle/>
          <a:p>
            <a:pPr algn="l">
              <a:spcAft>
                <a:spcPts val="0"/>
              </a:spcAft>
            </a:pPr>
            <a:r>
              <a:rPr sz="1600" b="1" i="0">
                <a:solidFill>
                  <a:srgbClr val="16202C"/>
                </a:solidFill>
                <a:latin typeface="Segoe UI"/>
              </a:rPr>
              <a:t>Arc: Connected</a:t>
            </a:r>
          </a:p>
        </p:txBody>
      </p:sp>
      <p:sp>
        <p:nvSpPr>
          <p:cNvPr id="17" name="TextBox 16"/>
          <p:cNvSpPr txBox="1"/>
          <p:nvPr/>
        </p:nvSpPr>
        <p:spPr>
          <a:xfrm>
            <a:off x="8412480" y="2560320"/>
            <a:ext cx="3017520" cy="548640"/>
          </a:xfrm>
          <a:prstGeom prst="rect">
            <a:avLst/>
          </a:prstGeom>
          <a:noFill/>
        </p:spPr>
        <p:txBody>
          <a:bodyPr wrap="square" lIns="0" rIns="0" tIns="0" bIns="0" anchor="t"/>
          <a:lstStyle/>
          <a:p>
            <a:pPr algn="l">
              <a:spcAft>
                <a:spcPts val="0"/>
              </a:spcAft>
            </a:pPr>
            <a:r>
              <a:rPr sz="1300" b="0" i="0">
                <a:solidFill>
                  <a:srgbClr val="5E6B7A"/>
                </a:solidFill>
                <a:latin typeface="Segoe UI"/>
              </a:rPr>
              <a:t>through the Arc gateway</a:t>
            </a:r>
          </a:p>
        </p:txBody>
      </p:sp>
      <p:sp>
        <p:nvSpPr>
          <p:cNvPr id="18" name="Rectangle 17"/>
          <p:cNvSpPr/>
          <p:nvPr/>
        </p:nvSpPr>
        <p:spPr>
          <a:xfrm>
            <a:off x="685800" y="3474720"/>
            <a:ext cx="3474720" cy="178308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3831336"/>
            <a:ext cx="603504" cy="603504"/>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0" i="0">
                <a:solidFill>
                  <a:srgbClr val="FFFFFF"/>
                </a:solidFill>
                <a:latin typeface="Segoe UI Symbol"/>
              </a:rPr>
              <a:t>✓</a:t>
            </a:r>
          </a:p>
        </p:txBody>
      </p:sp>
      <p:sp>
        <p:nvSpPr>
          <p:cNvPr id="20" name="TextBox 19"/>
          <p:cNvSpPr txBox="1"/>
          <p:nvPr/>
        </p:nvSpPr>
        <p:spPr>
          <a:xfrm>
            <a:off x="1691640" y="3858768"/>
            <a:ext cx="2377440" cy="566928"/>
          </a:xfrm>
          <a:prstGeom prst="rect">
            <a:avLst/>
          </a:prstGeom>
          <a:noFill/>
        </p:spPr>
        <p:txBody>
          <a:bodyPr wrap="square" lIns="0" rIns="0" tIns="0" bIns="0" anchor="ctr"/>
          <a:lstStyle/>
          <a:p>
            <a:pPr algn="l">
              <a:spcAft>
                <a:spcPts val="0"/>
              </a:spcAft>
            </a:pPr>
            <a:r>
              <a:rPr sz="1600" b="1" i="0">
                <a:solidFill>
                  <a:srgbClr val="16202C"/>
                </a:solidFill>
                <a:latin typeface="Segoe UI"/>
              </a:rPr>
              <a:t>Proxy log</a:t>
            </a:r>
          </a:p>
        </p:txBody>
      </p:sp>
      <p:sp>
        <p:nvSpPr>
          <p:cNvPr id="21" name="TextBox 20"/>
          <p:cNvSpPr txBox="1"/>
          <p:nvPr/>
        </p:nvSpPr>
        <p:spPr>
          <a:xfrm>
            <a:off x="1005840" y="4572000"/>
            <a:ext cx="3017520" cy="548640"/>
          </a:xfrm>
          <a:prstGeom prst="rect">
            <a:avLst/>
          </a:prstGeom>
          <a:noFill/>
        </p:spPr>
        <p:txBody>
          <a:bodyPr wrap="square" lIns="0" rIns="0" tIns="0" bIns="0" anchor="t"/>
          <a:lstStyle/>
          <a:p>
            <a:pPr algn="l">
              <a:spcAft>
                <a:spcPts val="0"/>
              </a:spcAft>
            </a:pPr>
            <a:r>
              <a:rPr sz="1300" b="0" i="0">
                <a:solidFill>
                  <a:srgbClr val="5E6B7A"/>
                </a:solidFill>
                <a:latin typeface="Segoe UI"/>
              </a:rPr>
              <a:t>Arc tunnels from Equinix node IPs</a:t>
            </a:r>
          </a:p>
        </p:txBody>
      </p:sp>
      <p:sp>
        <p:nvSpPr>
          <p:cNvPr id="22" name="Rectangle 21"/>
          <p:cNvSpPr/>
          <p:nvPr/>
        </p:nvSpPr>
        <p:spPr>
          <a:xfrm>
            <a:off x="4389120" y="3474720"/>
            <a:ext cx="3474720" cy="178308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636007" y="3831336"/>
            <a:ext cx="603504" cy="603504"/>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0" i="0">
                <a:solidFill>
                  <a:srgbClr val="FFFFFF"/>
                </a:solidFill>
                <a:latin typeface="Segoe UI Symbol"/>
              </a:rPr>
              <a:t>✓</a:t>
            </a:r>
          </a:p>
        </p:txBody>
      </p:sp>
      <p:sp>
        <p:nvSpPr>
          <p:cNvPr id="24" name="TextBox 23"/>
          <p:cNvSpPr txBox="1"/>
          <p:nvPr/>
        </p:nvSpPr>
        <p:spPr>
          <a:xfrm>
            <a:off x="5394960" y="3858768"/>
            <a:ext cx="2377440" cy="566928"/>
          </a:xfrm>
          <a:prstGeom prst="rect">
            <a:avLst/>
          </a:prstGeom>
          <a:noFill/>
        </p:spPr>
        <p:txBody>
          <a:bodyPr wrap="square" lIns="0" rIns="0" tIns="0" bIns="0" anchor="ctr"/>
          <a:lstStyle/>
          <a:p>
            <a:pPr algn="l">
              <a:spcAft>
                <a:spcPts val="0"/>
              </a:spcAft>
            </a:pPr>
            <a:r>
              <a:rPr sz="1600" b="1" i="0">
                <a:solidFill>
                  <a:srgbClr val="16202C"/>
                </a:solidFill>
                <a:latin typeface="Segoe UI"/>
              </a:rPr>
              <a:t>Storefront</a:t>
            </a:r>
          </a:p>
        </p:txBody>
      </p:sp>
      <p:sp>
        <p:nvSpPr>
          <p:cNvPr id="25" name="TextBox 24"/>
          <p:cNvSpPr txBox="1"/>
          <p:nvPr/>
        </p:nvSpPr>
        <p:spPr>
          <a:xfrm>
            <a:off x="4709159" y="4572000"/>
            <a:ext cx="3017520" cy="548640"/>
          </a:xfrm>
          <a:prstGeom prst="rect">
            <a:avLst/>
          </a:prstGeom>
          <a:noFill/>
        </p:spPr>
        <p:txBody>
          <a:bodyPr wrap="square" lIns="0" rIns="0" tIns="0" bIns="0" anchor="t"/>
          <a:lstStyle/>
          <a:p>
            <a:pPr algn="l">
              <a:spcAft>
                <a:spcPts val="0"/>
              </a:spcAft>
            </a:pPr>
            <a:r>
              <a:rPr sz="1300" b="0" i="0">
                <a:solidFill>
                  <a:srgbClr val="5E6B7A"/>
                </a:solidFill>
                <a:latin typeface="Segoe UI"/>
              </a:rPr>
              <a:t>fetched from Azure over ExpressRoute</a:t>
            </a:r>
          </a:p>
        </p:txBody>
      </p:sp>
      <p:sp>
        <p:nvSpPr>
          <p:cNvPr id="26" name="Rectangle 25"/>
          <p:cNvSpPr/>
          <p:nvPr/>
        </p:nvSpPr>
        <p:spPr>
          <a:xfrm>
            <a:off x="8092440" y="3474720"/>
            <a:ext cx="3474720" cy="178308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39327" y="3831336"/>
            <a:ext cx="603504" cy="603504"/>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0" i="0">
                <a:solidFill>
                  <a:srgbClr val="FFFFFF"/>
                </a:solidFill>
                <a:latin typeface="Segoe UI Symbol"/>
              </a:rPr>
              <a:t>✓</a:t>
            </a:r>
          </a:p>
        </p:txBody>
      </p:sp>
      <p:sp>
        <p:nvSpPr>
          <p:cNvPr id="28" name="TextBox 27"/>
          <p:cNvSpPr txBox="1"/>
          <p:nvPr/>
        </p:nvSpPr>
        <p:spPr>
          <a:xfrm>
            <a:off x="9098280" y="3858768"/>
            <a:ext cx="2377440" cy="566928"/>
          </a:xfrm>
          <a:prstGeom prst="rect">
            <a:avLst/>
          </a:prstGeom>
          <a:noFill/>
        </p:spPr>
        <p:txBody>
          <a:bodyPr wrap="square" lIns="0" rIns="0" tIns="0" bIns="0" anchor="ctr"/>
          <a:lstStyle/>
          <a:p>
            <a:pPr algn="l">
              <a:spcAft>
                <a:spcPts val="0"/>
              </a:spcAft>
            </a:pPr>
            <a:r>
              <a:rPr sz="1600" b="1" i="0">
                <a:solidFill>
                  <a:srgbClr val="16202C"/>
                </a:solidFill>
                <a:latin typeface="Segoe UI"/>
              </a:rPr>
              <a:t>kubectl via Arc</a:t>
            </a:r>
          </a:p>
        </p:txBody>
      </p:sp>
      <p:sp>
        <p:nvSpPr>
          <p:cNvPr id="29" name="TextBox 28"/>
          <p:cNvSpPr txBox="1"/>
          <p:nvPr/>
        </p:nvSpPr>
        <p:spPr>
          <a:xfrm>
            <a:off x="8412480" y="4572000"/>
            <a:ext cx="3017520" cy="548640"/>
          </a:xfrm>
          <a:prstGeom prst="rect">
            <a:avLst/>
          </a:prstGeom>
          <a:noFill/>
        </p:spPr>
        <p:txBody>
          <a:bodyPr wrap="square" lIns="0" rIns="0" tIns="0" bIns="0" anchor="t"/>
          <a:lstStyle/>
          <a:p>
            <a:pPr algn="l">
              <a:spcAft>
                <a:spcPts val="0"/>
              </a:spcAft>
            </a:pPr>
            <a:r>
              <a:rPr sz="1300" b="0" i="0">
                <a:solidFill>
                  <a:srgbClr val="5E6B7A"/>
                </a:solidFill>
                <a:latin typeface="Segoe UI"/>
              </a:rPr>
              <a:t>no VPN, no inbound ports</a:t>
            </a:r>
          </a:p>
        </p:txBody>
      </p:sp>
      <p:sp>
        <p:nvSpPr>
          <p:cNvPr id="30" name="TextBox 29"/>
          <p:cNvSpPr txBox="1"/>
          <p:nvPr/>
        </p:nvSpPr>
        <p:spPr>
          <a:xfrm>
            <a:off x="685800" y="5577840"/>
            <a:ext cx="10881360" cy="411480"/>
          </a:xfrm>
          <a:prstGeom prst="rect">
            <a:avLst/>
          </a:prstGeom>
          <a:noFill/>
        </p:spPr>
        <p:txBody>
          <a:bodyPr wrap="square" lIns="0" rIns="0" tIns="0" bIns="0" anchor="t"/>
          <a:lstStyle/>
          <a:p>
            <a:pPr algn="l">
              <a:spcAft>
                <a:spcPts val="0"/>
              </a:spcAft>
            </a:pPr>
            <a:r>
              <a:rPr sz="1200" b="0" i="0">
                <a:solidFill>
                  <a:srgbClr val="5E6B7A"/>
                </a:solidFill>
                <a:latin typeface="Cascadia Code"/>
              </a:rPr>
              <a:t>Captured by scripts/demo-show-private-path.ps1 and scripts/09-validate-demo.ps1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Good to know</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11</a:t>
            </a:r>
          </a:p>
        </p:txBody>
      </p:sp>
      <p:sp>
        <p:nvSpPr>
          <p:cNvPr id="6" name="Rectangle 5"/>
          <p:cNvSpPr/>
          <p:nvPr/>
        </p:nvSpPr>
        <p:spPr>
          <a:xfrm>
            <a:off x="685800" y="1417320"/>
            <a:ext cx="5349240" cy="324612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5349240" cy="91440"/>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91640"/>
            <a:ext cx="4572000" cy="502920"/>
          </a:xfrm>
          <a:prstGeom prst="rect">
            <a:avLst/>
          </a:prstGeom>
          <a:noFill/>
        </p:spPr>
        <p:txBody>
          <a:bodyPr wrap="square" lIns="0" rIns="0" tIns="0" bIns="0" anchor="t"/>
          <a:lstStyle/>
          <a:p>
            <a:pPr algn="l">
              <a:spcAft>
                <a:spcPts val="0"/>
              </a:spcAft>
            </a:pPr>
            <a:r>
              <a:rPr sz="2200" b="1" i="0">
                <a:solidFill>
                  <a:srgbClr val="1E9E6A"/>
                </a:solidFill>
                <a:latin typeface="Bahnschrift SemiBold"/>
              </a:rPr>
              <a:t>Works today</a:t>
            </a:r>
          </a:p>
        </p:txBody>
      </p:sp>
      <p:sp>
        <p:nvSpPr>
          <p:cNvPr id="9" name="TextBox 8"/>
          <p:cNvSpPr txBox="1"/>
          <p:nvPr/>
        </p:nvSpPr>
        <p:spPr>
          <a:xfrm>
            <a:off x="1051560" y="2423160"/>
            <a:ext cx="4754880" cy="2103120"/>
          </a:xfrm>
          <a:prstGeom prst="rect">
            <a:avLst/>
          </a:prstGeom>
          <a:noFill/>
        </p:spPr>
        <p:txBody>
          <a:bodyPr wrap="square" lIns="0" rIns="0" tIns="0" bIns="0">
            <a:spAutoFit/>
          </a:bodyPr>
          <a:lstStyle/>
          <a:p>
            <a:pPr>
              <a:spcAft>
                <a:spcPts val="1600"/>
              </a:spcAft>
            </a:pPr>
            <a:r>
              <a:rPr sz="1000" b="0" i="0">
                <a:solidFill>
                  <a:srgbClr val="1E9E6A"/>
                </a:solidFill>
                <a:latin typeface="Segoe UI"/>
              </a:rPr>
              <a:t>■  </a:t>
            </a:r>
            <a:r>
              <a:rPr sz="1500" b="0" i="0">
                <a:solidFill>
                  <a:srgbClr val="16202C"/>
                </a:solidFill>
                <a:latin typeface="Segoe UI"/>
              </a:rPr>
              <a:t>Placement + overrides on Arc members (GA)</a:t>
            </a:r>
          </a:p>
          <a:p>
            <a:pPr>
              <a:spcAft>
                <a:spcPts val="1600"/>
              </a:spcAft>
            </a:pPr>
            <a:r>
              <a:rPr sz="1000" b="0" i="0">
                <a:solidFill>
                  <a:srgbClr val="1E9E6A"/>
                </a:solidFill>
                <a:latin typeface="Segoe UI"/>
              </a:rPr>
              <a:t>■  </a:t>
            </a:r>
            <a:r>
              <a:rPr sz="1500" b="0" i="0">
                <a:solidFill>
                  <a:srgbClr val="16202C"/>
                </a:solidFill>
                <a:latin typeface="Segoe UI"/>
              </a:rPr>
              <a:t>Arc gateway for Arc-enabled Kubernetes</a:t>
            </a:r>
          </a:p>
          <a:p>
            <a:pPr>
              <a:spcAft>
                <a:spcPts val="1600"/>
              </a:spcAft>
            </a:pPr>
            <a:r>
              <a:rPr sz="1000" b="0" i="0">
                <a:solidFill>
                  <a:srgbClr val="1E9E6A"/>
                </a:solidFill>
                <a:latin typeface="Segoe UI"/>
              </a:rPr>
              <a:t>■  </a:t>
            </a:r>
            <a:r>
              <a:rPr sz="1500" b="0" i="0">
                <a:solidFill>
                  <a:srgbClr val="16202C"/>
                </a:solidFill>
                <a:latin typeface="Segoe UI"/>
              </a:rPr>
              <a:t>Fabric ↔ ExpressRoute: portal, API, Terraform</a:t>
            </a:r>
          </a:p>
          <a:p>
            <a:pPr>
              <a:spcAft>
                <a:spcPts val="1600"/>
              </a:spcAft>
            </a:pPr>
            <a:r>
              <a:rPr sz="1000" b="0" i="0">
                <a:solidFill>
                  <a:srgbClr val="1E9E6A"/>
                </a:solidFill>
                <a:latin typeface="Segoe UI"/>
              </a:rPr>
              <a:t>■  </a:t>
            </a:r>
            <a:r>
              <a:rPr sz="1500" b="0" i="0">
                <a:solidFill>
                  <a:srgbClr val="16202C"/>
                </a:solidFill>
                <a:latin typeface="Segoe UI"/>
              </a:rPr>
              <a:t>Arc Cluster Connect for day-2 access</a:t>
            </a:r>
          </a:p>
        </p:txBody>
      </p:sp>
      <p:sp>
        <p:nvSpPr>
          <p:cNvPr id="10" name="Rectangle 9"/>
          <p:cNvSpPr/>
          <p:nvPr/>
        </p:nvSpPr>
        <p:spPr>
          <a:xfrm>
            <a:off x="6263640" y="1417320"/>
            <a:ext cx="5349240" cy="324612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17320"/>
            <a:ext cx="5349240" cy="91440"/>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691640"/>
            <a:ext cx="4572000" cy="502920"/>
          </a:xfrm>
          <a:prstGeom prst="rect">
            <a:avLst/>
          </a:prstGeom>
          <a:noFill/>
        </p:spPr>
        <p:txBody>
          <a:bodyPr wrap="square" lIns="0" rIns="0" tIns="0" bIns="0" anchor="t"/>
          <a:lstStyle/>
          <a:p>
            <a:pPr algn="l">
              <a:spcAft>
                <a:spcPts val="0"/>
              </a:spcAft>
            </a:pPr>
            <a:r>
              <a:rPr sz="2200" b="1" i="0">
                <a:solidFill>
                  <a:srgbClr val="C77700"/>
                </a:solidFill>
                <a:latin typeface="Bahnschrift SemiBold"/>
              </a:rPr>
              <a:t>Plan around</a:t>
            </a:r>
          </a:p>
        </p:txBody>
      </p:sp>
      <p:sp>
        <p:nvSpPr>
          <p:cNvPr id="13" name="TextBox 12"/>
          <p:cNvSpPr txBox="1"/>
          <p:nvPr/>
        </p:nvSpPr>
        <p:spPr>
          <a:xfrm>
            <a:off x="6629400" y="2423160"/>
            <a:ext cx="4754880" cy="2103120"/>
          </a:xfrm>
          <a:prstGeom prst="rect">
            <a:avLst/>
          </a:prstGeom>
          <a:noFill/>
        </p:spPr>
        <p:txBody>
          <a:bodyPr wrap="square" lIns="0" rIns="0" tIns="0" bIns="0">
            <a:spAutoFit/>
          </a:bodyPr>
          <a:lstStyle/>
          <a:p>
            <a:pPr>
              <a:spcAft>
                <a:spcPts val="1600"/>
              </a:spcAft>
            </a:pPr>
            <a:r>
              <a:rPr sz="1000" b="0" i="0">
                <a:solidFill>
                  <a:srgbClr val="C77700"/>
                </a:solidFill>
                <a:latin typeface="Segoe UI"/>
              </a:rPr>
              <a:t>■  </a:t>
            </a:r>
            <a:r>
              <a:rPr sz="1500" b="0" i="0">
                <a:solidFill>
                  <a:srgbClr val="16202C"/>
                </a:solidFill>
                <a:latin typeface="Segoe UI"/>
              </a:rPr>
              <a:t>Fleet update runs are AKS-only</a:t>
            </a:r>
          </a:p>
          <a:p>
            <a:pPr>
              <a:spcAft>
                <a:spcPts val="1600"/>
              </a:spcAft>
            </a:pPr>
            <a:r>
              <a:rPr sz="1000" b="0" i="0">
                <a:solidFill>
                  <a:srgbClr val="C77700"/>
                </a:solidFill>
                <a:latin typeface="Segoe UI"/>
              </a:rPr>
              <a:t>■  </a:t>
            </a:r>
            <a:r>
              <a:rPr sz="1500" b="0" i="0">
                <a:solidFill>
                  <a:srgbClr val="16202C"/>
                </a:solidFill>
                <a:latin typeface="Segoe UI"/>
              </a:rPr>
              <a:t>Passthrough proxies only — no TLS termination</a:t>
            </a:r>
          </a:p>
          <a:p>
            <a:pPr>
              <a:spcAft>
                <a:spcPts val="1600"/>
              </a:spcAft>
            </a:pPr>
            <a:r>
              <a:rPr sz="1000" b="0" i="0">
                <a:solidFill>
                  <a:srgbClr val="C77700"/>
                </a:solidFill>
                <a:latin typeface="Segoe UI"/>
              </a:rPr>
              <a:t>■  </a:t>
            </a:r>
            <a:r>
              <a:rPr sz="1500" b="0" i="0">
                <a:solidFill>
                  <a:srgbClr val="16202C"/>
                </a:solidFill>
                <a:latin typeface="Segoe UI"/>
              </a:rPr>
              <a:t>Equinix Metal EOL (June 2026): use colocation</a:t>
            </a:r>
          </a:p>
          <a:p>
            <a:pPr>
              <a:spcAft>
                <a:spcPts val="1600"/>
              </a:spcAft>
            </a:pPr>
            <a:r>
              <a:rPr sz="1000" b="0" i="0">
                <a:solidFill>
                  <a:srgbClr val="C77700"/>
                </a:solidFill>
                <a:latin typeface="Segoe UI"/>
              </a:rPr>
              <a:t>■  </a:t>
            </a:r>
            <a:r>
              <a:rPr sz="1500" b="0" i="0">
                <a:solidFill>
                  <a:srgbClr val="16202C"/>
                </a:solidFill>
                <a:latin typeface="Segoe UI"/>
              </a:rPr>
              <a:t>AKS on bare metal: preview, single node, East US</a:t>
            </a:r>
          </a:p>
        </p:txBody>
      </p:sp>
      <p:sp>
        <p:nvSpPr>
          <p:cNvPr id="14" name="TextBox 13"/>
          <p:cNvSpPr txBox="1"/>
          <p:nvPr/>
        </p:nvSpPr>
        <p:spPr>
          <a:xfrm>
            <a:off x="685800" y="5029200"/>
            <a:ext cx="10881360" cy="411480"/>
          </a:xfrm>
          <a:prstGeom prst="rect">
            <a:avLst/>
          </a:prstGeom>
          <a:noFill/>
        </p:spPr>
        <p:txBody>
          <a:bodyPr wrap="square" lIns="0" rIns="0" tIns="0" bIns="0" anchor="t"/>
          <a:lstStyle/>
          <a:p>
            <a:pPr algn="l">
              <a:spcAft>
                <a:spcPts val="0"/>
              </a:spcAft>
            </a:pPr>
            <a:r>
              <a:rPr sz="1200" b="0" i="0">
                <a:solidFill>
                  <a:srgbClr val="5E6B7A"/>
                </a:solidFill>
                <a:latin typeface="Cascadia Code"/>
              </a:rPr>
              <a:t>Details: docs/ARCHITECTURE.md  ·  docs/EQUINIX-CLUSTER.md  ·  docs/NETWORKING-EXPRESSROUTE.md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Cost, production, and the code</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12</a:t>
            </a:r>
          </a:p>
        </p:txBody>
      </p:sp>
      <p:sp>
        <p:nvSpPr>
          <p:cNvPr id="6" name="Rectangle 5"/>
          <p:cNvSpPr/>
          <p:nvPr/>
        </p:nvSpPr>
        <p:spPr>
          <a:xfrm>
            <a:off x="685800" y="1371600"/>
            <a:ext cx="3474720" cy="173736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44752"/>
            <a:ext cx="2926080" cy="914400"/>
          </a:xfrm>
          <a:prstGeom prst="rect">
            <a:avLst/>
          </a:prstGeom>
          <a:noFill/>
        </p:spPr>
        <p:txBody>
          <a:bodyPr wrap="square" lIns="0" rIns="0" tIns="0" bIns="0" anchor="ctr"/>
          <a:lstStyle/>
          <a:p>
            <a:pPr algn="l">
              <a:spcAft>
                <a:spcPts val="0"/>
              </a:spcAft>
            </a:pPr>
            <a:r>
              <a:rPr sz="4400" b="0" i="0">
                <a:solidFill>
                  <a:srgbClr val="16202C"/>
                </a:solidFill>
                <a:latin typeface="Bahnschrift SemiBold"/>
              </a:rPr>
              <a:t>$0.89/hr</a:t>
            </a:r>
          </a:p>
        </p:txBody>
      </p:sp>
      <p:sp>
        <p:nvSpPr>
          <p:cNvPr id="8" name="TextBox 7"/>
          <p:cNvSpPr txBox="1"/>
          <p:nvPr/>
        </p:nvSpPr>
        <p:spPr>
          <a:xfrm>
            <a:off x="960120" y="2377440"/>
            <a:ext cx="3063240" cy="640080"/>
          </a:xfrm>
          <a:prstGeom prst="rect">
            <a:avLst/>
          </a:prstGeom>
          <a:noFill/>
        </p:spPr>
        <p:txBody>
          <a:bodyPr wrap="square" lIns="0" rIns="0" tIns="0" bIns="0" anchor="t"/>
          <a:lstStyle/>
          <a:p>
            <a:pPr algn="l">
              <a:spcAft>
                <a:spcPts val="0"/>
              </a:spcAft>
            </a:pPr>
            <a:r>
              <a:rPr sz="1300" b="0" i="0">
                <a:solidFill>
                  <a:srgbClr val="5E6B7A"/>
                </a:solidFill>
                <a:latin typeface="Segoe UI"/>
              </a:rPr>
              <a:t>Azure + AWS run rate</a:t>
            </a:r>
          </a:p>
          <a:p>
            <a:pPr algn="l">
              <a:spcAft>
                <a:spcPts val="0"/>
              </a:spcAft>
            </a:pPr>
            <a:r>
              <a:rPr sz="1300" b="0" i="0">
                <a:solidFill>
                  <a:srgbClr val="5E6B7A"/>
                </a:solidFill>
                <a:latin typeface="Segoe UI"/>
              </a:rPr>
              <a:t>list price, excludes Equinix</a:t>
            </a:r>
          </a:p>
        </p:txBody>
      </p:sp>
      <p:sp>
        <p:nvSpPr>
          <p:cNvPr id="9" name="Rectangle 8"/>
          <p:cNvSpPr/>
          <p:nvPr/>
        </p:nvSpPr>
        <p:spPr>
          <a:xfrm>
            <a:off x="4389120" y="1371600"/>
            <a:ext cx="3474720" cy="173736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444752"/>
            <a:ext cx="2926080" cy="914400"/>
          </a:xfrm>
          <a:prstGeom prst="rect">
            <a:avLst/>
          </a:prstGeom>
          <a:noFill/>
        </p:spPr>
        <p:txBody>
          <a:bodyPr wrap="square" lIns="0" rIns="0" tIns="0" bIns="0" anchor="ctr"/>
          <a:lstStyle/>
          <a:p>
            <a:pPr algn="l">
              <a:spcAft>
                <a:spcPts val="0"/>
              </a:spcAft>
            </a:pPr>
            <a:r>
              <a:rPr sz="4400" b="0" i="0">
                <a:solidFill>
                  <a:srgbClr val="16202C"/>
                </a:solidFill>
                <a:latin typeface="Bahnschrift SemiBold"/>
              </a:rPr>
              <a:t>$55/mo</a:t>
            </a:r>
          </a:p>
        </p:txBody>
      </p:sp>
      <p:sp>
        <p:nvSpPr>
          <p:cNvPr id="11" name="TextBox 10"/>
          <p:cNvSpPr txBox="1"/>
          <p:nvPr/>
        </p:nvSpPr>
        <p:spPr>
          <a:xfrm>
            <a:off x="4663440" y="2377440"/>
            <a:ext cx="3063240" cy="640080"/>
          </a:xfrm>
          <a:prstGeom prst="rect">
            <a:avLst/>
          </a:prstGeom>
          <a:noFill/>
        </p:spPr>
        <p:txBody>
          <a:bodyPr wrap="square" lIns="0" rIns="0" tIns="0" bIns="0" anchor="t"/>
          <a:lstStyle/>
          <a:p>
            <a:pPr algn="l">
              <a:spcAft>
                <a:spcPts val="0"/>
              </a:spcAft>
            </a:pPr>
            <a:r>
              <a:rPr sz="1300" b="0" i="0">
                <a:solidFill>
                  <a:srgbClr val="5E6B7A"/>
                </a:solidFill>
                <a:latin typeface="Segoe UI"/>
              </a:rPr>
              <a:t>50 Mbps ExpressRoute circuit</a:t>
            </a:r>
          </a:p>
          <a:p>
            <a:pPr algn="l">
              <a:spcAft>
                <a:spcPts val="0"/>
              </a:spcAft>
            </a:pPr>
            <a:r>
              <a:rPr sz="1300" b="0" i="0">
                <a:solidFill>
                  <a:srgbClr val="5E6B7A"/>
                </a:solidFill>
                <a:latin typeface="Segoe UI"/>
              </a:rPr>
              <a:t>bills from creation</a:t>
            </a:r>
          </a:p>
        </p:txBody>
      </p:sp>
      <p:sp>
        <p:nvSpPr>
          <p:cNvPr id="12" name="Rectangle 11"/>
          <p:cNvSpPr/>
          <p:nvPr/>
        </p:nvSpPr>
        <p:spPr>
          <a:xfrm>
            <a:off x="8092440" y="1371600"/>
            <a:ext cx="3474720" cy="173736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444752"/>
            <a:ext cx="2926080" cy="914400"/>
          </a:xfrm>
          <a:prstGeom prst="rect">
            <a:avLst/>
          </a:prstGeom>
          <a:noFill/>
        </p:spPr>
        <p:txBody>
          <a:bodyPr wrap="square" lIns="0" rIns="0" tIns="0" bIns="0" anchor="ctr"/>
          <a:lstStyle/>
          <a:p>
            <a:pPr algn="l">
              <a:spcAft>
                <a:spcPts val="0"/>
              </a:spcAft>
            </a:pPr>
            <a:r>
              <a:rPr sz="4400" b="0" i="0">
                <a:solidFill>
                  <a:srgbClr val="E4002B"/>
                </a:solidFill>
                <a:latin typeface="Bahnschrift SemiBold"/>
              </a:rPr>
              <a:t>0</a:t>
            </a:r>
          </a:p>
        </p:txBody>
      </p:sp>
      <p:sp>
        <p:nvSpPr>
          <p:cNvPr id="14" name="TextBox 13"/>
          <p:cNvSpPr txBox="1"/>
          <p:nvPr/>
        </p:nvSpPr>
        <p:spPr>
          <a:xfrm>
            <a:off x="8366760" y="2377440"/>
            <a:ext cx="3063240" cy="640080"/>
          </a:xfrm>
          <a:prstGeom prst="rect">
            <a:avLst/>
          </a:prstGeom>
          <a:noFill/>
        </p:spPr>
        <p:txBody>
          <a:bodyPr wrap="square" lIns="0" rIns="0" tIns="0" bIns="0" anchor="t"/>
          <a:lstStyle/>
          <a:p>
            <a:pPr algn="l">
              <a:spcAft>
                <a:spcPts val="0"/>
              </a:spcAft>
            </a:pPr>
            <a:r>
              <a:rPr sz="1300" b="0" i="0">
                <a:solidFill>
                  <a:srgbClr val="5E6B7A"/>
                </a:solidFill>
                <a:latin typeface="Segoe UI"/>
              </a:rPr>
              <a:t>internet egress paths</a:t>
            </a:r>
          </a:p>
          <a:p>
            <a:pPr algn="l">
              <a:spcAft>
                <a:spcPts val="0"/>
              </a:spcAft>
            </a:pPr>
            <a:r>
              <a:rPr sz="1300" b="0" i="0">
                <a:solidFill>
                  <a:srgbClr val="5E6B7A"/>
                </a:solidFill>
                <a:latin typeface="Segoe UI"/>
              </a:rPr>
              <a:t>from the Equinix cage</a:t>
            </a:r>
          </a:p>
        </p:txBody>
      </p:sp>
      <p:sp>
        <p:nvSpPr>
          <p:cNvPr id="15" name="TextBox 14"/>
          <p:cNvSpPr txBox="1"/>
          <p:nvPr/>
        </p:nvSpPr>
        <p:spPr>
          <a:xfrm>
            <a:off x="685800" y="3429000"/>
            <a:ext cx="6858000" cy="457200"/>
          </a:xfrm>
          <a:prstGeom prst="rect">
            <a:avLst/>
          </a:prstGeom>
          <a:noFill/>
        </p:spPr>
        <p:txBody>
          <a:bodyPr wrap="square" lIns="0" rIns="0" tIns="0" bIns="0" anchor="t"/>
          <a:lstStyle/>
          <a:p>
            <a:pPr algn="l">
              <a:spcAft>
                <a:spcPts val="0"/>
              </a:spcAft>
            </a:pPr>
            <a:r>
              <a:rPr sz="1900" b="1" i="0">
                <a:solidFill>
                  <a:srgbClr val="16202C"/>
                </a:solidFill>
                <a:latin typeface="Bahnschrift SemiBold"/>
              </a:rPr>
              <a:t>Production checklist</a:t>
            </a:r>
          </a:p>
        </p:txBody>
      </p:sp>
      <p:sp>
        <p:nvSpPr>
          <p:cNvPr id="16" name="TextBox 15"/>
          <p:cNvSpPr txBox="1"/>
          <p:nvPr/>
        </p:nvSpPr>
        <p:spPr>
          <a:xfrm>
            <a:off x="685800" y="3977639"/>
            <a:ext cx="6949440" cy="2103120"/>
          </a:xfrm>
          <a:prstGeom prst="rect">
            <a:avLst/>
          </a:prstGeom>
          <a:noFill/>
        </p:spPr>
        <p:txBody>
          <a:bodyPr wrap="square" lIns="0" rIns="0" tIns="0" bIns="0">
            <a:spAutoFit/>
          </a:bodyPr>
          <a:lstStyle/>
          <a:p>
            <a:pPr>
              <a:spcAft>
                <a:spcPts val="700"/>
              </a:spcAft>
            </a:pPr>
            <a:r>
              <a:rPr sz="1000" b="0" i="0">
                <a:solidFill>
                  <a:srgbClr val="E4002B"/>
                </a:solidFill>
                <a:latin typeface="Segoe UI"/>
              </a:rPr>
              <a:t>■  </a:t>
            </a:r>
            <a:r>
              <a:rPr sz="1500" b="0" i="0">
                <a:solidFill>
                  <a:srgbClr val="16202C"/>
                </a:solidFill>
                <a:latin typeface="Segoe UI"/>
              </a:rPr>
              <a:t>Azure Firewall explicit proxy, or an HA proxy pair</a:t>
            </a:r>
          </a:p>
          <a:p>
            <a:pPr>
              <a:spcAft>
                <a:spcPts val="700"/>
              </a:spcAft>
            </a:pPr>
            <a:r>
              <a:rPr sz="1000" b="0" i="0">
                <a:solidFill>
                  <a:srgbClr val="E4002B"/>
                </a:solidFill>
                <a:latin typeface="Segoe UI"/>
              </a:rPr>
              <a:t>■  </a:t>
            </a:r>
            <a:r>
              <a:rPr sz="1500" b="0" i="0">
                <a:solidFill>
                  <a:srgbClr val="16202C"/>
                </a:solidFill>
                <a:latin typeface="Segoe UI"/>
              </a:rPr>
              <a:t>ExpressRoute Metro or two peering locations</a:t>
            </a:r>
          </a:p>
          <a:p>
            <a:pPr>
              <a:spcAft>
                <a:spcPts val="700"/>
              </a:spcAft>
            </a:pPr>
            <a:r>
              <a:rPr sz="1000" b="0" i="0">
                <a:solidFill>
                  <a:srgbClr val="E4002B"/>
                </a:solidFill>
                <a:latin typeface="Segoe UI"/>
              </a:rPr>
              <a:t>■  </a:t>
            </a:r>
            <a:r>
              <a:rPr sz="1500" b="0" i="0">
                <a:solidFill>
                  <a:srgbClr val="16202C"/>
                </a:solidFill>
                <a:latin typeface="Segoe UI"/>
              </a:rPr>
              <a:t>BGP MD5 + BFD, summarized prefixes</a:t>
            </a:r>
          </a:p>
          <a:p>
            <a:pPr>
              <a:spcAft>
                <a:spcPts val="700"/>
              </a:spcAft>
            </a:pPr>
            <a:r>
              <a:rPr sz="1000" b="0" i="0">
                <a:solidFill>
                  <a:srgbClr val="E4002B"/>
                </a:solidFill>
                <a:latin typeface="Segoe UI"/>
              </a:rPr>
              <a:t>■  </a:t>
            </a:r>
            <a:r>
              <a:rPr sz="1500" b="0" i="0">
                <a:solidFill>
                  <a:srgbClr val="16202C"/>
                </a:solidFill>
                <a:latin typeface="Segoe UI"/>
              </a:rPr>
              <a:t>Private Fleet hub (Arc gateway already in place)</a:t>
            </a:r>
          </a:p>
          <a:p>
            <a:pPr>
              <a:spcAft>
                <a:spcPts val="700"/>
              </a:spcAft>
            </a:pPr>
            <a:r>
              <a:rPr sz="1000" b="0" i="0">
                <a:solidFill>
                  <a:srgbClr val="E4002B"/>
                </a:solidFill>
                <a:latin typeface="Segoe UI"/>
              </a:rPr>
              <a:t>■  </a:t>
            </a:r>
            <a:r>
              <a:rPr sz="1500" b="0" i="0">
                <a:solidFill>
                  <a:srgbClr val="16202C"/>
                </a:solidFill>
                <a:latin typeface="Segoe UI"/>
              </a:rPr>
              <a:t>Monitor and Defender via Arc extensions</a:t>
            </a:r>
          </a:p>
        </p:txBody>
      </p:sp>
      <p:pic>
        <p:nvPicPr>
          <p:cNvPr id="17" name="Picture 16" descr="image.png"/>
          <p:cNvPicPr>
            <a:picLocks noChangeAspect="1"/>
          </p:cNvPicPr>
          <p:nvPr/>
        </p:nvPicPr>
        <p:blipFill>
          <a:blip r:embed="rId2"/>
          <a:stretch>
            <a:fillRect/>
          </a:stretch>
        </p:blipFill>
        <p:spPr>
          <a:xfrm>
            <a:off x="8732520" y="3383280"/>
            <a:ext cx="1828800" cy="1828800"/>
          </a:xfrm>
          <a:prstGeom prst="rect">
            <a:avLst/>
          </a:prstGeom>
        </p:spPr>
      </p:pic>
      <p:sp>
        <p:nvSpPr>
          <p:cNvPr id="18" name="TextBox 17"/>
          <p:cNvSpPr txBox="1"/>
          <p:nvPr/>
        </p:nvSpPr>
        <p:spPr>
          <a:xfrm>
            <a:off x="7818120" y="5349240"/>
            <a:ext cx="3657600" cy="411480"/>
          </a:xfrm>
          <a:prstGeom prst="rect">
            <a:avLst/>
          </a:prstGeom>
          <a:noFill/>
        </p:spPr>
        <p:txBody>
          <a:bodyPr wrap="square" lIns="0" rIns="0" tIns="0" bIns="0" anchor="t"/>
          <a:lstStyle/>
          <a:p>
            <a:pPr algn="ctr">
              <a:spcAft>
                <a:spcPts val="0"/>
              </a:spcAft>
            </a:pPr>
            <a:r>
              <a:rPr sz="1300" b="1" i="0">
                <a:solidFill>
                  <a:srgbClr val="16202C"/>
                </a:solidFill>
                <a:latin typeface="Cascadia Code"/>
              </a:rPr>
              <a:t>github.com/bbenz/equinix-arc-demo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622"/>
        </a:solidFill>
        <a:effectLst/>
      </p:bgPr>
    </p:bg>
    <p:spTree>
      <p:nvGrpSpPr>
        <p:cNvPr id="1" name=""/>
        <p:cNvGrpSpPr/>
        <p:nvPr/>
      </p:nvGrpSpPr>
      <p:grpSpPr/>
      <p:sp>
        <p:nvSpPr>
          <p:cNvPr id="2" name="TextBox 1"/>
          <p:cNvSpPr txBox="1"/>
          <p:nvPr/>
        </p:nvSpPr>
        <p:spPr>
          <a:xfrm>
            <a:off x="685800" y="822960"/>
            <a:ext cx="7315200" cy="1097280"/>
          </a:xfrm>
          <a:prstGeom prst="rect">
            <a:avLst/>
          </a:prstGeom>
          <a:noFill/>
        </p:spPr>
        <p:txBody>
          <a:bodyPr wrap="square" lIns="0" rIns="0" tIns="0" bIns="0" anchor="t"/>
          <a:lstStyle/>
          <a:p>
            <a:pPr algn="l">
              <a:spcAft>
                <a:spcPts val="0"/>
              </a:spcAft>
            </a:pPr>
            <a:r>
              <a:rPr sz="6000" b="0" i="0">
                <a:solidFill>
                  <a:srgbClr val="FFFFFF"/>
                </a:solidFill>
                <a:latin typeface="Bahnschrift SemiBold"/>
              </a:rPr>
              <a:t>Thank you</a:t>
            </a:r>
          </a:p>
        </p:txBody>
      </p:sp>
      <p:sp>
        <p:nvSpPr>
          <p:cNvPr id="3" name="TextBox 2"/>
          <p:cNvSpPr txBox="1"/>
          <p:nvPr/>
        </p:nvSpPr>
        <p:spPr>
          <a:xfrm>
            <a:off x="685800" y="1874519"/>
            <a:ext cx="10789920" cy="457200"/>
          </a:xfrm>
          <a:prstGeom prst="rect">
            <a:avLst/>
          </a:prstGeom>
          <a:noFill/>
        </p:spPr>
        <p:txBody>
          <a:bodyPr wrap="square" lIns="0" rIns="0" tIns="0" bIns="0" anchor="t"/>
          <a:lstStyle/>
          <a:p>
            <a:pPr algn="l">
              <a:spcAft>
                <a:spcPts val="0"/>
              </a:spcAft>
            </a:pPr>
            <a:r>
              <a:rPr sz="1700" b="0" i="0">
                <a:solidFill>
                  <a:srgbClr val="C9D3DD"/>
                </a:solidFill>
                <a:latin typeface="Segoe UI"/>
              </a:rPr>
              <a:t>Fleet for consistency  ·  Arc for reach  ·  Equinix + ExpressRoute for a private path</a:t>
            </a:r>
          </a:p>
        </p:txBody>
      </p:sp>
      <p:sp>
        <p:nvSpPr>
          <p:cNvPr id="4" name="Oval 3"/>
          <p:cNvSpPr/>
          <p:nvPr/>
        </p:nvSpPr>
        <p:spPr>
          <a:xfrm>
            <a:off x="713232" y="2788920"/>
            <a:ext cx="493776" cy="49377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0" i="0">
                <a:solidFill>
                  <a:srgbClr val="FFFFFF"/>
                </a:solidFill>
                <a:latin typeface="Bahnschrift SemiBold"/>
              </a:rPr>
              <a:t>1</a:t>
            </a:r>
          </a:p>
        </p:txBody>
      </p:sp>
      <p:sp>
        <p:nvSpPr>
          <p:cNvPr id="5" name="TextBox 4"/>
          <p:cNvSpPr txBox="1"/>
          <p:nvPr/>
        </p:nvSpPr>
        <p:spPr>
          <a:xfrm>
            <a:off x="1417320" y="2788920"/>
            <a:ext cx="2377440" cy="502920"/>
          </a:xfrm>
          <a:prstGeom prst="rect">
            <a:avLst/>
          </a:prstGeom>
          <a:noFill/>
        </p:spPr>
        <p:txBody>
          <a:bodyPr wrap="square" lIns="0" rIns="0" tIns="0" bIns="0" anchor="ctr"/>
          <a:lstStyle/>
          <a:p>
            <a:pPr algn="l">
              <a:spcAft>
                <a:spcPts val="0"/>
              </a:spcAft>
            </a:pPr>
            <a:r>
              <a:rPr sz="1600" b="1" i="0">
                <a:solidFill>
                  <a:srgbClr val="FFFFFF"/>
                </a:solidFill>
                <a:latin typeface="Segoe UI"/>
              </a:rPr>
              <a:t>Sample repo</a:t>
            </a:r>
          </a:p>
        </p:txBody>
      </p:sp>
      <p:sp>
        <p:nvSpPr>
          <p:cNvPr id="6" name="TextBox 5"/>
          <p:cNvSpPr txBox="1"/>
          <p:nvPr/>
        </p:nvSpPr>
        <p:spPr>
          <a:xfrm>
            <a:off x="3794760" y="2788920"/>
            <a:ext cx="7863840" cy="502920"/>
          </a:xfrm>
          <a:prstGeom prst="rect">
            <a:avLst/>
          </a:prstGeom>
          <a:noFill/>
        </p:spPr>
        <p:txBody>
          <a:bodyPr wrap="square" lIns="0" rIns="0" tIns="0" bIns="0" anchor="ctr"/>
          <a:lstStyle/>
          <a:p>
            <a:pPr algn="l">
              <a:spcAft>
                <a:spcPts val="0"/>
              </a:spcAft>
            </a:pPr>
            <a:r>
              <a:rPr sz="1150" b="0" i="0">
                <a:solidFill>
                  <a:srgbClr val="9AD3E3"/>
                </a:solidFill>
                <a:latin typeface="Cascadia Code"/>
              </a:rPr>
              <a:t>github.com/bbenz/equinix-arc-demo</a:t>
            </a:r>
          </a:p>
        </p:txBody>
      </p:sp>
      <p:sp>
        <p:nvSpPr>
          <p:cNvPr id="7" name="Oval 6"/>
          <p:cNvSpPr/>
          <p:nvPr/>
        </p:nvSpPr>
        <p:spPr>
          <a:xfrm>
            <a:off x="713232" y="3566160"/>
            <a:ext cx="493776" cy="49377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0" i="0">
                <a:solidFill>
                  <a:srgbClr val="FFFFFF"/>
                </a:solidFill>
                <a:latin typeface="Bahnschrift SemiBold"/>
              </a:rPr>
              <a:t>2</a:t>
            </a:r>
          </a:p>
        </p:txBody>
      </p:sp>
      <p:sp>
        <p:nvSpPr>
          <p:cNvPr id="8" name="TextBox 7"/>
          <p:cNvSpPr txBox="1"/>
          <p:nvPr/>
        </p:nvSpPr>
        <p:spPr>
          <a:xfrm>
            <a:off x="1417320" y="3566160"/>
            <a:ext cx="2377440" cy="502920"/>
          </a:xfrm>
          <a:prstGeom prst="rect">
            <a:avLst/>
          </a:prstGeom>
          <a:noFill/>
        </p:spPr>
        <p:txBody>
          <a:bodyPr wrap="square" lIns="0" rIns="0" tIns="0" bIns="0" anchor="ctr"/>
          <a:lstStyle/>
          <a:p>
            <a:pPr algn="l">
              <a:spcAft>
                <a:spcPts val="0"/>
              </a:spcAft>
            </a:pPr>
            <a:r>
              <a:rPr sz="1600" b="1" i="0">
                <a:solidFill>
                  <a:srgbClr val="FFFFFF"/>
                </a:solidFill>
                <a:latin typeface="Segoe UI"/>
              </a:rPr>
              <a:t>Fleet Manager + Arc</a:t>
            </a:r>
          </a:p>
        </p:txBody>
      </p:sp>
      <p:sp>
        <p:nvSpPr>
          <p:cNvPr id="9" name="TextBox 8"/>
          <p:cNvSpPr txBox="1"/>
          <p:nvPr/>
        </p:nvSpPr>
        <p:spPr>
          <a:xfrm>
            <a:off x="3794760" y="3566160"/>
            <a:ext cx="7863840" cy="502920"/>
          </a:xfrm>
          <a:prstGeom prst="rect">
            <a:avLst/>
          </a:prstGeom>
          <a:noFill/>
        </p:spPr>
        <p:txBody>
          <a:bodyPr wrap="square" lIns="0" rIns="0" tIns="0" bIns="0" anchor="ctr"/>
          <a:lstStyle/>
          <a:p>
            <a:pPr algn="l">
              <a:spcAft>
                <a:spcPts val="0"/>
              </a:spcAft>
            </a:pPr>
            <a:r>
              <a:rPr sz="1150" b="0" i="0">
                <a:solidFill>
                  <a:srgbClr val="9AD3E3"/>
                </a:solidFill>
                <a:latin typeface="Cascadia Code"/>
              </a:rPr>
              <a:t>learn.microsoft.com/azure/kubernetes-fleet/concepts-fleet-arc-integration</a:t>
            </a:r>
          </a:p>
        </p:txBody>
      </p:sp>
      <p:sp>
        <p:nvSpPr>
          <p:cNvPr id="10" name="Oval 9"/>
          <p:cNvSpPr/>
          <p:nvPr/>
        </p:nvSpPr>
        <p:spPr>
          <a:xfrm>
            <a:off x="713232" y="4343400"/>
            <a:ext cx="493776" cy="49377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0" i="0">
                <a:solidFill>
                  <a:srgbClr val="FFFFFF"/>
                </a:solidFill>
                <a:latin typeface="Bahnschrift SemiBold"/>
              </a:rPr>
              <a:t>3</a:t>
            </a:r>
          </a:p>
        </p:txBody>
      </p:sp>
      <p:sp>
        <p:nvSpPr>
          <p:cNvPr id="11" name="TextBox 10"/>
          <p:cNvSpPr txBox="1"/>
          <p:nvPr/>
        </p:nvSpPr>
        <p:spPr>
          <a:xfrm>
            <a:off x="1417320" y="4343400"/>
            <a:ext cx="2377440" cy="502920"/>
          </a:xfrm>
          <a:prstGeom prst="rect">
            <a:avLst/>
          </a:prstGeom>
          <a:noFill/>
        </p:spPr>
        <p:txBody>
          <a:bodyPr wrap="square" lIns="0" rIns="0" tIns="0" bIns="0" anchor="ctr"/>
          <a:lstStyle/>
          <a:p>
            <a:pPr algn="l">
              <a:spcAft>
                <a:spcPts val="0"/>
              </a:spcAft>
            </a:pPr>
            <a:r>
              <a:rPr sz="1600" b="1" i="0">
                <a:solidFill>
                  <a:srgbClr val="FFFFFF"/>
                </a:solidFill>
                <a:latin typeface="Segoe UI"/>
              </a:rPr>
              <a:t>Arc gateway</a:t>
            </a:r>
          </a:p>
        </p:txBody>
      </p:sp>
      <p:sp>
        <p:nvSpPr>
          <p:cNvPr id="12" name="TextBox 11"/>
          <p:cNvSpPr txBox="1"/>
          <p:nvPr/>
        </p:nvSpPr>
        <p:spPr>
          <a:xfrm>
            <a:off x="3794760" y="4343400"/>
            <a:ext cx="7863840" cy="502920"/>
          </a:xfrm>
          <a:prstGeom prst="rect">
            <a:avLst/>
          </a:prstGeom>
          <a:noFill/>
        </p:spPr>
        <p:txBody>
          <a:bodyPr wrap="square" lIns="0" rIns="0" tIns="0" bIns="0" anchor="ctr"/>
          <a:lstStyle/>
          <a:p>
            <a:pPr algn="l">
              <a:spcAft>
                <a:spcPts val="0"/>
              </a:spcAft>
            </a:pPr>
            <a:r>
              <a:rPr sz="1150" b="0" i="0">
                <a:solidFill>
                  <a:srgbClr val="9AD3E3"/>
                </a:solidFill>
                <a:latin typeface="Cascadia Code"/>
              </a:rPr>
              <a:t>learn.microsoft.com/azure/azure-arc/kubernetes/arc-gateway-simplify-networking</a:t>
            </a:r>
          </a:p>
        </p:txBody>
      </p:sp>
      <p:sp>
        <p:nvSpPr>
          <p:cNvPr id="13" name="Oval 12"/>
          <p:cNvSpPr/>
          <p:nvPr/>
        </p:nvSpPr>
        <p:spPr>
          <a:xfrm>
            <a:off x="713232" y="5120640"/>
            <a:ext cx="493776" cy="49377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0" i="0">
                <a:solidFill>
                  <a:srgbClr val="FFFFFF"/>
                </a:solidFill>
                <a:latin typeface="Bahnschrift SemiBold"/>
              </a:rPr>
              <a:t>4</a:t>
            </a:r>
          </a:p>
        </p:txBody>
      </p:sp>
      <p:sp>
        <p:nvSpPr>
          <p:cNvPr id="14" name="TextBox 13"/>
          <p:cNvSpPr txBox="1"/>
          <p:nvPr/>
        </p:nvSpPr>
        <p:spPr>
          <a:xfrm>
            <a:off x="1417320" y="5120640"/>
            <a:ext cx="2377440" cy="502920"/>
          </a:xfrm>
          <a:prstGeom prst="rect">
            <a:avLst/>
          </a:prstGeom>
          <a:noFill/>
        </p:spPr>
        <p:txBody>
          <a:bodyPr wrap="square" lIns="0" rIns="0" tIns="0" bIns="0" anchor="ctr"/>
          <a:lstStyle/>
          <a:p>
            <a:pPr algn="l">
              <a:spcAft>
                <a:spcPts val="0"/>
              </a:spcAft>
            </a:pPr>
            <a:r>
              <a:rPr sz="1600" b="1" i="0">
                <a:solidFill>
                  <a:srgbClr val="FFFFFF"/>
                </a:solidFill>
                <a:latin typeface="Segoe UI"/>
              </a:rPr>
              <a:t>Equinix ↔ ExpressRoute</a:t>
            </a:r>
          </a:p>
        </p:txBody>
      </p:sp>
      <p:sp>
        <p:nvSpPr>
          <p:cNvPr id="15" name="TextBox 14"/>
          <p:cNvSpPr txBox="1"/>
          <p:nvPr/>
        </p:nvSpPr>
        <p:spPr>
          <a:xfrm>
            <a:off x="3794760" y="5120640"/>
            <a:ext cx="7863840" cy="502920"/>
          </a:xfrm>
          <a:prstGeom prst="rect">
            <a:avLst/>
          </a:prstGeom>
          <a:noFill/>
        </p:spPr>
        <p:txBody>
          <a:bodyPr wrap="square" lIns="0" rIns="0" tIns="0" bIns="0" anchor="ctr"/>
          <a:lstStyle/>
          <a:p>
            <a:pPr algn="l">
              <a:spcAft>
                <a:spcPts val="0"/>
              </a:spcAft>
            </a:pPr>
            <a:r>
              <a:rPr sz="1150" b="0" i="0">
                <a:solidFill>
                  <a:srgbClr val="9AD3E3"/>
                </a:solidFill>
                <a:latin typeface="Cascadia Code"/>
              </a:rPr>
              <a:t>docs.equinix.com/fabric-marketplace/connecting-to-service-provider/microsoft/azure-qc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Appendix · labels and egress allowlist</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14</a:t>
            </a:r>
          </a:p>
        </p:txBody>
      </p:sp>
      <p:graphicFrame>
        <p:nvGraphicFramePr>
          <p:cNvPr id="6" name="Table 5"/>
          <p:cNvGraphicFramePr>
            <a:graphicFrameLocks noGrp="1"/>
          </p:cNvGraphicFramePr>
          <p:nvPr/>
        </p:nvGraphicFramePr>
        <p:xfrm>
          <a:off x="685800" y="1371600"/>
          <a:ext cx="6035040" cy="3017520"/>
        </p:xfrm>
        <a:graphic>
          <a:graphicData uri="http://schemas.openxmlformats.org/drawingml/2006/table">
            <a:tbl>
              <a:tblPr firstRow="1">
                <a:tableStyleId>{5C22544A-7EE6-4342-B048-85BDC9FD1C3A}</a:tableStyleId>
              </a:tblPr>
              <a:tblGrid>
                <a:gridCol w="1417320"/>
                <a:gridCol w="1463040"/>
                <a:gridCol w="1600200"/>
                <a:gridCol w="1554480"/>
              </a:tblGrid>
              <a:tr h="502920">
                <a:tc>
                  <a:txBody>
                    <a:bodyPr wrap="square"/>
                    <a:lstStyle/>
                    <a:p>
                      <a:r>
                        <a:rPr sz="1200" b="1" i="0">
                          <a:solidFill>
                            <a:srgbClr val="FFFFFF"/>
                          </a:solidFill>
                          <a:latin typeface="Segoe UI"/>
                        </a:rPr>
                        <a:t>Label</a:t>
                      </a:r>
                    </a:p>
                  </a:txBody>
                  <a:tcPr marL="91440" marR="91440" marT="36576" marB="36576" anchor="ctr">
                    <a:solidFill>
                      <a:srgbClr val="0B1622"/>
                    </a:solidFill>
                  </a:tcPr>
                </a:tc>
                <a:tc>
                  <a:txBody>
                    <a:bodyPr wrap="square"/>
                    <a:lstStyle/>
                    <a:p>
                      <a:r>
                        <a:rPr sz="1200" b="1" i="0">
                          <a:solidFill>
                            <a:srgbClr val="FFFFFF"/>
                          </a:solidFill>
                          <a:latin typeface="Segoe UI"/>
                        </a:rPr>
                        <a:t>aks-demo</a:t>
                      </a:r>
                    </a:p>
                  </a:txBody>
                  <a:tcPr marL="91440" marR="91440" marT="36576" marB="36576" anchor="ctr">
                    <a:solidFill>
                      <a:srgbClr val="0B1622"/>
                    </a:solidFill>
                  </a:tcPr>
                </a:tc>
                <a:tc>
                  <a:txBody>
                    <a:bodyPr wrap="square"/>
                    <a:lstStyle/>
                    <a:p>
                      <a:r>
                        <a:rPr sz="1200" b="1" i="0">
                          <a:solidFill>
                            <a:srgbClr val="FFFFFF"/>
                          </a:solidFill>
                          <a:latin typeface="Segoe UI"/>
                        </a:rPr>
                        <a:t>eks-demo</a:t>
                      </a:r>
                    </a:p>
                  </a:txBody>
                  <a:tcPr marL="91440" marR="91440" marT="36576" marB="36576" anchor="ctr">
                    <a:solidFill>
                      <a:srgbClr val="0B1622"/>
                    </a:solidFill>
                  </a:tcPr>
                </a:tc>
                <a:tc>
                  <a:txBody>
                    <a:bodyPr wrap="square"/>
                    <a:lstStyle/>
                    <a:p>
                      <a:r>
                        <a:rPr sz="1200" b="1" i="0">
                          <a:solidFill>
                            <a:srgbClr val="FFFFFF"/>
                          </a:solidFill>
                          <a:latin typeface="Segoe UI"/>
                        </a:rPr>
                        <a:t>equinix-demo</a:t>
                      </a:r>
                    </a:p>
                  </a:txBody>
                  <a:tcPr marL="91440" marR="91440" marT="36576" marB="36576" anchor="ctr">
                    <a:solidFill>
                      <a:srgbClr val="0B1622"/>
                    </a:solidFill>
                  </a:tcPr>
                </a:tc>
              </a:tr>
              <a:tr h="502920">
                <a:tc>
                  <a:txBody>
                    <a:bodyPr wrap="square"/>
                    <a:lstStyle/>
                    <a:p>
                      <a:r>
                        <a:rPr sz="1200" b="1" i="0">
                          <a:solidFill>
                            <a:srgbClr val="16202C"/>
                          </a:solidFill>
                          <a:latin typeface="Segoe UI"/>
                        </a:rPr>
                        <a:t>cloud</a:t>
                      </a:r>
                    </a:p>
                  </a:txBody>
                  <a:tcPr marL="91440" marR="91440" marT="36576" marB="36576" anchor="ctr">
                    <a:solidFill>
                      <a:srgbClr val="FFFFFF"/>
                    </a:solidFill>
                  </a:tcPr>
                </a:tc>
                <a:tc>
                  <a:txBody>
                    <a:bodyPr wrap="square"/>
                    <a:lstStyle/>
                    <a:p>
                      <a:r>
                        <a:rPr sz="1200" b="0" i="0">
                          <a:solidFill>
                            <a:srgbClr val="16202C"/>
                          </a:solidFill>
                          <a:latin typeface="Segoe UI"/>
                        </a:rPr>
                        <a:t>azure</a:t>
                      </a:r>
                    </a:p>
                  </a:txBody>
                  <a:tcPr marL="91440" marR="91440" marT="36576" marB="36576" anchor="ctr">
                    <a:solidFill>
                      <a:srgbClr val="FFFFFF"/>
                    </a:solidFill>
                  </a:tcPr>
                </a:tc>
                <a:tc>
                  <a:txBody>
                    <a:bodyPr wrap="square"/>
                    <a:lstStyle/>
                    <a:p>
                      <a:r>
                        <a:rPr sz="1200" b="0" i="0">
                          <a:solidFill>
                            <a:srgbClr val="16202C"/>
                          </a:solidFill>
                          <a:latin typeface="Segoe UI"/>
                        </a:rPr>
                        <a:t>aws</a:t>
                      </a:r>
                    </a:p>
                  </a:txBody>
                  <a:tcPr marL="91440" marR="91440" marT="36576" marB="36576" anchor="ctr">
                    <a:solidFill>
                      <a:srgbClr val="FFFFFF"/>
                    </a:solidFill>
                  </a:tcPr>
                </a:tc>
                <a:tc>
                  <a:txBody>
                    <a:bodyPr wrap="square"/>
                    <a:lstStyle/>
                    <a:p>
                      <a:r>
                        <a:rPr sz="1200" b="0" i="0">
                          <a:solidFill>
                            <a:srgbClr val="16202C"/>
                          </a:solidFill>
                          <a:latin typeface="Segoe UI"/>
                        </a:rPr>
                        <a:t>equinix</a:t>
                      </a:r>
                    </a:p>
                  </a:txBody>
                  <a:tcPr marL="91440" marR="91440" marT="36576" marB="36576" anchor="ctr">
                    <a:solidFill>
                      <a:srgbClr val="FDF0F3"/>
                    </a:solidFill>
                  </a:tcPr>
                </a:tc>
              </a:tr>
              <a:tr h="502920">
                <a:tc>
                  <a:txBody>
                    <a:bodyPr wrap="square"/>
                    <a:lstStyle/>
                    <a:p>
                      <a:r>
                        <a:rPr sz="1200" b="1" i="0">
                          <a:solidFill>
                            <a:srgbClr val="16202C"/>
                          </a:solidFill>
                          <a:latin typeface="Segoe UI"/>
                        </a:rPr>
                        <a:t>provider</a:t>
                      </a:r>
                    </a:p>
                  </a:txBody>
                  <a:tcPr marL="91440" marR="91440" marT="36576" marB="36576" anchor="ctr">
                    <a:solidFill>
                      <a:srgbClr val="EEF2F6"/>
                    </a:solidFill>
                  </a:tcPr>
                </a:tc>
                <a:tc>
                  <a:txBody>
                    <a:bodyPr wrap="square"/>
                    <a:lstStyle/>
                    <a:p>
                      <a:r>
                        <a:rPr sz="1200" b="0" i="0">
                          <a:solidFill>
                            <a:srgbClr val="16202C"/>
                          </a:solidFill>
                          <a:latin typeface="Segoe UI"/>
                        </a:rPr>
                        <a:t>aks</a:t>
                      </a:r>
                    </a:p>
                  </a:txBody>
                  <a:tcPr marL="91440" marR="91440" marT="36576" marB="36576" anchor="ctr">
                    <a:solidFill>
                      <a:srgbClr val="EEF2F6"/>
                    </a:solidFill>
                  </a:tcPr>
                </a:tc>
                <a:tc>
                  <a:txBody>
                    <a:bodyPr wrap="square"/>
                    <a:lstStyle/>
                    <a:p>
                      <a:r>
                        <a:rPr sz="1200" b="0" i="0">
                          <a:solidFill>
                            <a:srgbClr val="16202C"/>
                          </a:solidFill>
                          <a:latin typeface="Segoe UI"/>
                        </a:rPr>
                        <a:t>eks</a:t>
                      </a:r>
                    </a:p>
                  </a:txBody>
                  <a:tcPr marL="91440" marR="91440" marT="36576" marB="36576" anchor="ctr">
                    <a:solidFill>
                      <a:srgbClr val="EEF2F6"/>
                    </a:solidFill>
                  </a:tcPr>
                </a:tc>
                <a:tc>
                  <a:txBody>
                    <a:bodyPr wrap="square"/>
                    <a:lstStyle/>
                    <a:p>
                      <a:r>
                        <a:rPr sz="1200" b="0" i="0">
                          <a:solidFill>
                            <a:srgbClr val="16202C"/>
                          </a:solidFill>
                          <a:latin typeface="Segoe UI"/>
                        </a:rPr>
                        <a:t>k3s</a:t>
                      </a:r>
                    </a:p>
                  </a:txBody>
                  <a:tcPr marL="91440" marR="91440" marT="36576" marB="36576" anchor="ctr">
                    <a:solidFill>
                      <a:srgbClr val="FDF0F3"/>
                    </a:solidFill>
                  </a:tcPr>
                </a:tc>
              </a:tr>
              <a:tr h="502920">
                <a:tc>
                  <a:txBody>
                    <a:bodyPr wrap="square"/>
                    <a:lstStyle/>
                    <a:p>
                      <a:r>
                        <a:rPr sz="1200" b="1" i="0">
                          <a:solidFill>
                            <a:srgbClr val="16202C"/>
                          </a:solidFill>
                          <a:latin typeface="Segoe UI"/>
                        </a:rPr>
                        <a:t>connectivity</a:t>
                      </a:r>
                    </a:p>
                  </a:txBody>
                  <a:tcPr marL="91440" marR="91440" marT="36576" marB="36576" anchor="ctr">
                    <a:solidFill>
                      <a:srgbClr val="FFFFFF"/>
                    </a:solidFill>
                  </a:tcPr>
                </a:tc>
                <a:tc>
                  <a:txBody>
                    <a:bodyPr wrap="square"/>
                    <a:lstStyle/>
                    <a:p>
                      <a:r>
                        <a:rPr sz="1200" b="0" i="0">
                          <a:solidFill>
                            <a:srgbClr val="16202C"/>
                          </a:solidFill>
                          <a:latin typeface="Segoe UI"/>
                        </a:rPr>
                        <a:t>azure-native</a:t>
                      </a:r>
                    </a:p>
                  </a:txBody>
                  <a:tcPr marL="91440" marR="91440" marT="36576" marB="36576" anchor="ctr">
                    <a:solidFill>
                      <a:srgbClr val="FFFFFF"/>
                    </a:solidFill>
                  </a:tcPr>
                </a:tc>
                <a:tc>
                  <a:txBody>
                    <a:bodyPr wrap="square"/>
                    <a:lstStyle/>
                    <a:p>
                      <a:r>
                        <a:rPr sz="1200" b="0" i="0">
                          <a:solidFill>
                            <a:srgbClr val="16202C"/>
                          </a:solidFill>
                          <a:latin typeface="Segoe UI"/>
                        </a:rPr>
                        <a:t>public-internet</a:t>
                      </a:r>
                    </a:p>
                  </a:txBody>
                  <a:tcPr marL="91440" marR="91440" marT="36576" marB="36576" anchor="ctr">
                    <a:solidFill>
                      <a:srgbClr val="FFFFFF"/>
                    </a:solidFill>
                  </a:tcPr>
                </a:tc>
                <a:tc>
                  <a:txBody>
                    <a:bodyPr wrap="square"/>
                    <a:lstStyle/>
                    <a:p>
                      <a:r>
                        <a:rPr sz="1200" b="0" i="0">
                          <a:solidFill>
                            <a:srgbClr val="16202C"/>
                          </a:solidFill>
                          <a:latin typeface="Segoe UI"/>
                        </a:rPr>
                        <a:t>expressroute</a:t>
                      </a:r>
                    </a:p>
                  </a:txBody>
                  <a:tcPr marL="91440" marR="91440" marT="36576" marB="36576" anchor="ctr">
                    <a:solidFill>
                      <a:srgbClr val="FDF0F3"/>
                    </a:solidFill>
                  </a:tcPr>
                </a:tc>
              </a:tr>
              <a:tr h="502920">
                <a:tc>
                  <a:txBody>
                    <a:bodyPr wrap="square"/>
                    <a:lstStyle/>
                    <a:p>
                      <a:r>
                        <a:rPr sz="1200" b="1" i="0">
                          <a:solidFill>
                            <a:srgbClr val="16202C"/>
                          </a:solidFill>
                          <a:latin typeface="Segoe UI"/>
                        </a:rPr>
                        <a:t>site</a:t>
                      </a:r>
                    </a:p>
                  </a:txBody>
                  <a:tcPr marL="91440" marR="91440" marT="36576" marB="36576" anchor="ctr">
                    <a:solidFill>
                      <a:srgbClr val="EEF2F6"/>
                    </a:solidFill>
                  </a:tcPr>
                </a:tc>
                <a:tc>
                  <a:txBody>
                    <a:bodyPr wrap="square"/>
                    <a:lstStyle/>
                    <a:p>
                      <a:r>
                        <a:rPr sz="1200" b="0" i="0">
                          <a:solidFill>
                            <a:srgbClr val="16202C"/>
                          </a:solidFill>
                          <a:latin typeface="Segoe UI"/>
                        </a:rPr>
                        <a:t>azure-westus2</a:t>
                      </a:r>
                    </a:p>
                  </a:txBody>
                  <a:tcPr marL="91440" marR="91440" marT="36576" marB="36576" anchor="ctr">
                    <a:solidFill>
                      <a:srgbClr val="EEF2F6"/>
                    </a:solidFill>
                  </a:tcPr>
                </a:tc>
                <a:tc>
                  <a:txBody>
                    <a:bodyPr wrap="square"/>
                    <a:lstStyle/>
                    <a:p>
                      <a:r>
                        <a:rPr sz="1200" b="0" i="0">
                          <a:solidFill>
                            <a:srgbClr val="16202C"/>
                          </a:solidFill>
                          <a:latin typeface="Segoe UI"/>
                        </a:rPr>
                        <a:t>aws-us-west-2</a:t>
                      </a:r>
                    </a:p>
                  </a:txBody>
                  <a:tcPr marL="91440" marR="91440" marT="36576" marB="36576" anchor="ctr">
                    <a:solidFill>
                      <a:srgbClr val="EEF2F6"/>
                    </a:solidFill>
                  </a:tcPr>
                </a:tc>
                <a:tc>
                  <a:txBody>
                    <a:bodyPr wrap="square"/>
                    <a:lstStyle/>
                    <a:p>
                      <a:r>
                        <a:rPr sz="1200" b="0" i="0">
                          <a:solidFill>
                            <a:srgbClr val="16202C"/>
                          </a:solidFill>
                          <a:latin typeface="Segoe UI"/>
                        </a:rPr>
                        <a:t>equinix-sv</a:t>
                      </a:r>
                    </a:p>
                  </a:txBody>
                  <a:tcPr marL="91440" marR="91440" marT="36576" marB="36576" anchor="ctr">
                    <a:solidFill>
                      <a:srgbClr val="FDF0F3"/>
                    </a:solidFill>
                  </a:tcPr>
                </a:tc>
              </a:tr>
              <a:tr h="502920">
                <a:tc>
                  <a:txBody>
                    <a:bodyPr wrap="square"/>
                    <a:lstStyle/>
                    <a:p>
                      <a:r>
                        <a:rPr sz="1200" b="1" i="0">
                          <a:solidFill>
                            <a:srgbClr val="16202C"/>
                          </a:solidFill>
                          <a:latin typeface="Segoe UI"/>
                        </a:rPr>
                        <a:t>demo</a:t>
                      </a:r>
                    </a:p>
                  </a:txBody>
                  <a:tcPr marL="91440" marR="91440" marT="36576" marB="36576" anchor="ctr">
                    <a:solidFill>
                      <a:srgbClr val="FFFFFF"/>
                    </a:solidFill>
                  </a:tcPr>
                </a:tc>
                <a:tc gridSpan="3">
                  <a:txBody>
                    <a:bodyPr wrap="square"/>
                    <a:lstStyle/>
                    <a:p>
                      <a:r>
                        <a:rPr sz="1200" b="0" i="0">
                          <a:solidFill>
                            <a:srgbClr val="16202C"/>
                          </a:solidFill>
                          <a:latin typeface="Segoe UI"/>
                        </a:rPr>
                        <a:t>equinix-arc-online-boutique (all members)</a:t>
                      </a:r>
                    </a:p>
                  </a:txBody>
                  <a:tcPr marL="91440" marR="91440" marT="36576" marB="36576" anchor="ctr">
                    <a:solidFill>
                      <a:srgbClr val="FFFFFF"/>
                    </a:solidFill>
                  </a:tcPr>
                </a:tc>
                <a:tc hMerge="1">
                  <a:txBody>
                    <a:bodyPr wrap="square"/>
                    <a:lstStyle/>
                    <a:p>
                      <a:r>
                        <a:rPr sz="1200" b="0" i="0">
                          <a:solidFill>
                            <a:srgbClr val="16202C"/>
                          </a:solidFill>
                          <a:latin typeface="Segoe UI"/>
                        </a:rPr>
                        <a:t/>
                      </a:r>
                    </a:p>
                  </a:txBody>
                  <a:tcPr marL="91440" marR="91440" marT="36576" marB="36576" anchor="ctr">
                    <a:solidFill>
                      <a:srgbClr val="FFFFFF"/>
                    </a:solidFill>
                  </a:tcPr>
                </a:tc>
                <a:tc hMerge="1">
                  <a:txBody>
                    <a:bodyPr wrap="square"/>
                    <a:lstStyle/>
                    <a:p>
                      <a:r>
                        <a:rPr sz="1200" b="0" i="0">
                          <a:solidFill>
                            <a:srgbClr val="16202C"/>
                          </a:solidFill>
                          <a:latin typeface="Segoe UI"/>
                        </a:rPr>
                        <a:t/>
                      </a:r>
                    </a:p>
                  </a:txBody>
                  <a:tcPr marL="91440" marR="91440" marT="36576" marB="36576" anchor="ctr">
                    <a:solidFill>
                      <a:srgbClr val="FDF0F3"/>
                    </a:solidFill>
                  </a:tcPr>
                </a:tc>
              </a:tr>
            </a:tbl>
          </a:graphicData>
        </a:graphic>
      </p:graphicFrame>
      <p:sp>
        <p:nvSpPr>
          <p:cNvPr id="7" name="Rectangle 6"/>
          <p:cNvSpPr/>
          <p:nvPr/>
        </p:nvSpPr>
        <p:spPr>
          <a:xfrm>
            <a:off x="7086600" y="1371600"/>
            <a:ext cx="4526280" cy="4343400"/>
          </a:xfrm>
          <a:prstGeom prst="rect">
            <a:avLst/>
          </a:prstGeom>
          <a:solidFill>
            <a:srgbClr val="FFFFFF"/>
          </a:solidFill>
          <a:ln w="9525">
            <a:solidFill>
              <a:srgbClr val="D6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554480"/>
            <a:ext cx="4023360" cy="411480"/>
          </a:xfrm>
          <a:prstGeom prst="rect">
            <a:avLst/>
          </a:prstGeom>
          <a:noFill/>
        </p:spPr>
        <p:txBody>
          <a:bodyPr wrap="square" lIns="0" rIns="0" tIns="0" bIns="0" anchor="t"/>
          <a:lstStyle/>
          <a:p>
            <a:pPr algn="l">
              <a:spcAft>
                <a:spcPts val="0"/>
              </a:spcAft>
            </a:pPr>
            <a:r>
              <a:rPr sz="1700" b="1" i="0">
                <a:solidFill>
                  <a:srgbClr val="16202C"/>
                </a:solidFill>
                <a:latin typeface="Segoe UI"/>
              </a:rPr>
              <a:t>Egress proxy allowlist</a:t>
            </a:r>
          </a:p>
        </p:txBody>
      </p:sp>
      <p:sp>
        <p:nvSpPr>
          <p:cNvPr id="9" name="TextBox 8"/>
          <p:cNvSpPr txBox="1"/>
          <p:nvPr/>
        </p:nvSpPr>
        <p:spPr>
          <a:xfrm>
            <a:off x="7360920" y="2103120"/>
            <a:ext cx="4069080" cy="3474720"/>
          </a:xfrm>
          <a:prstGeom prst="rect">
            <a:avLst/>
          </a:prstGeom>
          <a:noFill/>
        </p:spPr>
        <p:txBody>
          <a:bodyPr wrap="square" lIns="0" rIns="0" tIns="0" bIns="0" anchor="t"/>
          <a:lstStyle/>
          <a:p>
            <a:pPr algn="l">
              <a:spcAft>
                <a:spcPts val="600"/>
              </a:spcAft>
            </a:pPr>
            <a:r>
              <a:rPr sz="1300" b="1" i="0">
                <a:solidFill>
                  <a:srgbClr val="E4002B"/>
                </a:solidFill>
                <a:latin typeface="Segoe UI"/>
              </a:rPr>
              <a:t>Arc gateway</a:t>
            </a:r>
          </a:p>
          <a:p>
            <a:pPr algn="l">
              <a:spcAft>
                <a:spcPts val="600"/>
              </a:spcAft>
            </a:pPr>
            <a:r>
              <a:rPr sz="1100" b="0" i="0">
                <a:solidFill>
                  <a:srgbClr val="16202C"/>
                </a:solidFill>
                <a:latin typeface="Cascadia Code"/>
              </a:rPr>
              <a:t>.gw.arc.azure.com · management.azure.com · .obo.arc.azure.com · login.microsoftonline.com · .login.microsoft.com · .his.arc.azure.com · mcr.microsoft.com · .data.mcr.microsoft.com</a:t>
            </a:r>
          </a:p>
          <a:p>
            <a:pPr algn="l">
              <a:spcAft>
                <a:spcPts val="600"/>
              </a:spcAft>
            </a:pPr>
            <a:r>
              <a:rPr sz="1300" b="1" i="0">
                <a:solidFill>
                  <a:srgbClr val="E4002B"/>
                </a:solidFill>
                <a:latin typeface="Segoe UI"/>
              </a:rPr>
              <a:t>Fleet hub</a:t>
            </a:r>
          </a:p>
          <a:p>
            <a:pPr algn="l">
              <a:spcAft>
                <a:spcPts val="600"/>
              </a:spcAft>
            </a:pPr>
            <a:r>
              <a:rPr sz="1100" b="0" i="0">
                <a:solidFill>
                  <a:srgbClr val="16202C"/>
                </a:solidFill>
                <a:latin typeface="Cascadia Code"/>
              </a:rPr>
              <a:t>.azmk8s.io</a:t>
            </a:r>
          </a:p>
          <a:p>
            <a:pPr algn="l">
              <a:spcAft>
                <a:spcPts val="600"/>
              </a:spcAft>
            </a:pPr>
            <a:r>
              <a:rPr sz="1300" b="1" i="0">
                <a:solidFill>
                  <a:srgbClr val="E4002B"/>
                </a:solidFill>
                <a:latin typeface="Segoe UI"/>
              </a:rPr>
              <a:t>Images</a:t>
            </a:r>
          </a:p>
          <a:p>
            <a:pPr algn="l">
              <a:spcAft>
                <a:spcPts val="600"/>
              </a:spcAft>
            </a:pPr>
            <a:r>
              <a:rPr sz="1100" b="0" i="0">
                <a:solidFill>
                  <a:srgbClr val="16202C"/>
                </a:solidFill>
                <a:latin typeface="Cascadia Code"/>
              </a:rPr>
              <a:t>us-central1-docker.pkg.dev · Docker Hub (registry, auth, CDN)</a:t>
            </a:r>
          </a:p>
          <a:p>
            <a:pPr algn="l">
              <a:spcAft>
                <a:spcPts val="600"/>
              </a:spcAft>
            </a:pPr>
            <a:r>
              <a:rPr sz="1300" b="1" i="0">
                <a:solidFill>
                  <a:srgbClr val="E4002B"/>
                </a:solidFill>
                <a:latin typeface="Segoe UI"/>
              </a:rPr>
              <a:t>K3s install</a:t>
            </a:r>
          </a:p>
          <a:p>
            <a:pPr algn="l">
              <a:spcAft>
                <a:spcPts val="600"/>
              </a:spcAft>
            </a:pPr>
            <a:r>
              <a:rPr sz="1100" b="0" i="0">
                <a:solidFill>
                  <a:srgbClr val="16202C"/>
                </a:solidFill>
                <a:latin typeface="Cascadia Code"/>
              </a:rPr>
              <a:t>get.k3s.io · update.k3s.io · github.com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789920" cy="731520"/>
          </a:xfrm>
          <a:prstGeom prst="rect">
            <a:avLst/>
          </a:prstGeom>
          <a:noFill/>
        </p:spPr>
        <p:txBody>
          <a:bodyPr wrap="square" lIns="0" rIns="0" tIns="0" bIns="0" anchor="ctr"/>
          <a:lstStyle/>
          <a:p>
            <a:pPr algn="l">
              <a:spcAft>
                <a:spcPts val="0"/>
              </a:spcAft>
            </a:pPr>
            <a:r>
              <a:rPr sz="3400" b="0" i="0">
                <a:solidFill>
                  <a:srgbClr val="16202C"/>
                </a:solidFill>
                <a:latin typeface="Bahnschrift SemiBold"/>
              </a:rPr>
              <a:t>Appendix · the pipeline</a:t>
            </a:r>
          </a:p>
        </p:txBody>
      </p:sp>
      <p:sp>
        <p:nvSpPr>
          <p:cNvPr id="4" name="TextBox 3"/>
          <p:cNvSpPr txBox="1"/>
          <p:nvPr/>
        </p:nvSpPr>
        <p:spPr>
          <a:xfrm>
            <a:off x="685800" y="6263640"/>
            <a:ext cx="7315200" cy="274320"/>
          </a:xfrm>
          <a:prstGeom prst="rect">
            <a:avLst/>
          </a:prstGeom>
          <a:noFill/>
        </p:spPr>
        <p:txBody>
          <a:bodyPr wrap="square" lIns="0" rIns="0" tIns="0" bIns="0" anchor="t"/>
          <a:lstStyle/>
          <a:p>
            <a:pPr algn="l">
              <a:spcAft>
                <a:spcPts val="0"/>
              </a:spcAft>
            </a:pPr>
            <a:r>
              <a:rPr sz="1000" b="0" i="0">
                <a:solidFill>
                  <a:srgbClr val="5E6B7A"/>
                </a:solidFill>
                <a:latin typeface="Segoe UI"/>
              </a:rPr>
              <a:t>Microsoft Ignite 2026  ·  One fleet, three footprints</a:t>
            </a:r>
          </a:p>
        </p:txBody>
      </p:sp>
      <p:sp>
        <p:nvSpPr>
          <p:cNvPr id="5" name="TextBox 4"/>
          <p:cNvSpPr txBox="1"/>
          <p:nvPr/>
        </p:nvSpPr>
        <p:spPr>
          <a:xfrm>
            <a:off x="10607040" y="6263640"/>
            <a:ext cx="914400" cy="274320"/>
          </a:xfrm>
          <a:prstGeom prst="rect">
            <a:avLst/>
          </a:prstGeom>
          <a:noFill/>
        </p:spPr>
        <p:txBody>
          <a:bodyPr wrap="square" lIns="0" rIns="0" tIns="0" bIns="0" anchor="t"/>
          <a:lstStyle/>
          <a:p>
            <a:pPr algn="r">
              <a:spcAft>
                <a:spcPts val="0"/>
              </a:spcAft>
            </a:pPr>
            <a:r>
              <a:rPr sz="1000" b="0" i="0">
                <a:solidFill>
                  <a:srgbClr val="5E6B7A"/>
                </a:solidFill>
                <a:latin typeface="Segoe UI"/>
              </a:rPr>
              <a:t>15</a:t>
            </a:r>
          </a:p>
        </p:txBody>
      </p:sp>
      <p:cxnSp>
        <p:nvCxnSpPr>
          <p:cNvPr id="6" name="Connector 5"/>
          <p:cNvCxnSpPr/>
          <p:nvPr/>
        </p:nvCxnSpPr>
        <p:spPr>
          <a:xfrm>
            <a:off x="1280160" y="2103120"/>
            <a:ext cx="9372600" cy="0"/>
          </a:xfrm>
          <a:prstGeom prst="line">
            <a:avLst/>
          </a:prstGeom>
          <a:ln w="38100">
            <a:solidFill>
              <a:srgbClr val="E4002B"/>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96112" y="171907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00</a:t>
            </a:r>
          </a:p>
        </p:txBody>
      </p:sp>
      <p:sp>
        <p:nvSpPr>
          <p:cNvPr id="8" name="TextBox 7"/>
          <p:cNvSpPr txBox="1"/>
          <p:nvPr/>
        </p:nvSpPr>
        <p:spPr>
          <a:xfrm>
            <a:off x="365759" y="267004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check-tools</a:t>
            </a:r>
          </a:p>
        </p:txBody>
      </p:sp>
      <p:sp>
        <p:nvSpPr>
          <p:cNvPr id="9" name="Oval 8"/>
          <p:cNvSpPr/>
          <p:nvPr/>
        </p:nvSpPr>
        <p:spPr>
          <a:xfrm>
            <a:off x="2770632" y="171907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00b</a:t>
            </a:r>
          </a:p>
        </p:txBody>
      </p:sp>
      <p:sp>
        <p:nvSpPr>
          <p:cNvPr id="10" name="TextBox 9"/>
          <p:cNvSpPr txBox="1"/>
          <p:nvPr/>
        </p:nvSpPr>
        <p:spPr>
          <a:xfrm>
            <a:off x="2240279" y="267004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bootstrap-auth</a:t>
            </a:r>
          </a:p>
        </p:txBody>
      </p:sp>
      <p:sp>
        <p:nvSpPr>
          <p:cNvPr id="11" name="Oval 10"/>
          <p:cNvSpPr/>
          <p:nvPr/>
        </p:nvSpPr>
        <p:spPr>
          <a:xfrm>
            <a:off x="4645152" y="171907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01</a:t>
            </a:r>
          </a:p>
        </p:txBody>
      </p:sp>
      <p:sp>
        <p:nvSpPr>
          <p:cNvPr id="12" name="TextBox 11"/>
          <p:cNvSpPr txBox="1"/>
          <p:nvPr/>
        </p:nvSpPr>
        <p:spPr>
          <a:xfrm>
            <a:off x="4114800" y="267004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test-access</a:t>
            </a:r>
          </a:p>
        </p:txBody>
      </p:sp>
      <p:sp>
        <p:nvSpPr>
          <p:cNvPr id="13" name="Oval 12"/>
          <p:cNvSpPr/>
          <p:nvPr/>
        </p:nvSpPr>
        <p:spPr>
          <a:xfrm>
            <a:off x="6519671" y="171907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02</a:t>
            </a:r>
          </a:p>
        </p:txBody>
      </p:sp>
      <p:sp>
        <p:nvSpPr>
          <p:cNvPr id="14" name="TextBox 13"/>
          <p:cNvSpPr txBox="1"/>
          <p:nvPr/>
        </p:nvSpPr>
        <p:spPr>
          <a:xfrm>
            <a:off x="5989319" y="267004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select-regions</a:t>
            </a:r>
          </a:p>
        </p:txBody>
      </p:sp>
      <p:sp>
        <p:nvSpPr>
          <p:cNvPr id="15" name="Oval 14"/>
          <p:cNvSpPr/>
          <p:nvPr/>
        </p:nvSpPr>
        <p:spPr>
          <a:xfrm>
            <a:off x="8394192" y="171907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03</a:t>
            </a:r>
          </a:p>
        </p:txBody>
      </p:sp>
      <p:sp>
        <p:nvSpPr>
          <p:cNvPr id="16" name="TextBox 15"/>
          <p:cNvSpPr txBox="1"/>
          <p:nvPr/>
        </p:nvSpPr>
        <p:spPr>
          <a:xfrm>
            <a:off x="7863840" y="267004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plan</a:t>
            </a:r>
          </a:p>
        </p:txBody>
      </p:sp>
      <p:sp>
        <p:nvSpPr>
          <p:cNvPr id="17" name="Oval 16"/>
          <p:cNvSpPr/>
          <p:nvPr/>
        </p:nvSpPr>
        <p:spPr>
          <a:xfrm>
            <a:off x="10268712" y="1719072"/>
            <a:ext cx="768096" cy="768096"/>
          </a:xfrm>
          <a:prstGeom prst="ellipse">
            <a:avLst/>
          </a:prstGeom>
          <a:solidFill>
            <a:srgbClr val="E4002B"/>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04</a:t>
            </a:r>
          </a:p>
        </p:txBody>
      </p:sp>
      <p:sp>
        <p:nvSpPr>
          <p:cNvPr id="18" name="TextBox 17"/>
          <p:cNvSpPr txBox="1"/>
          <p:nvPr/>
        </p:nvSpPr>
        <p:spPr>
          <a:xfrm>
            <a:off x="9738360" y="267004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apply</a:t>
            </a:r>
          </a:p>
        </p:txBody>
      </p:sp>
      <p:cxnSp>
        <p:nvCxnSpPr>
          <p:cNvPr id="19" name="Connector 18"/>
          <p:cNvCxnSpPr/>
          <p:nvPr/>
        </p:nvCxnSpPr>
        <p:spPr>
          <a:xfrm>
            <a:off x="1280160" y="4114800"/>
            <a:ext cx="9372600" cy="0"/>
          </a:xfrm>
          <a:prstGeom prst="line">
            <a:avLst/>
          </a:prstGeom>
          <a:ln w="38100">
            <a:solidFill>
              <a:srgbClr val="E4002B"/>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96112" y="3730752"/>
            <a:ext cx="768096" cy="768096"/>
          </a:xfrm>
          <a:prstGeom prst="ellipse">
            <a:avLst/>
          </a:prstGeom>
          <a:solidFill>
            <a:srgbClr val="E4002B"/>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05</a:t>
            </a:r>
          </a:p>
        </p:txBody>
      </p:sp>
      <p:sp>
        <p:nvSpPr>
          <p:cNvPr id="21" name="TextBox 20"/>
          <p:cNvSpPr txBox="1"/>
          <p:nvPr/>
        </p:nvSpPr>
        <p:spPr>
          <a:xfrm>
            <a:off x="365759" y="468172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connect-er</a:t>
            </a:r>
          </a:p>
        </p:txBody>
      </p:sp>
      <p:sp>
        <p:nvSpPr>
          <p:cNvPr id="22" name="Oval 21"/>
          <p:cNvSpPr/>
          <p:nvPr/>
        </p:nvSpPr>
        <p:spPr>
          <a:xfrm>
            <a:off x="2770632" y="373075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06</a:t>
            </a:r>
          </a:p>
        </p:txBody>
      </p:sp>
      <p:sp>
        <p:nvSpPr>
          <p:cNvPr id="23" name="TextBox 22"/>
          <p:cNvSpPr txBox="1"/>
          <p:nvPr/>
        </p:nvSpPr>
        <p:spPr>
          <a:xfrm>
            <a:off x="2240279" y="468172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connect-arc</a:t>
            </a:r>
          </a:p>
        </p:txBody>
      </p:sp>
      <p:sp>
        <p:nvSpPr>
          <p:cNvPr id="24" name="Oval 23"/>
          <p:cNvSpPr/>
          <p:nvPr/>
        </p:nvSpPr>
        <p:spPr>
          <a:xfrm>
            <a:off x="4645152" y="373075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07</a:t>
            </a:r>
          </a:p>
        </p:txBody>
      </p:sp>
      <p:sp>
        <p:nvSpPr>
          <p:cNvPr id="25" name="TextBox 24"/>
          <p:cNvSpPr txBox="1"/>
          <p:nvPr/>
        </p:nvSpPr>
        <p:spPr>
          <a:xfrm>
            <a:off x="4114800" y="468172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join-fleet</a:t>
            </a:r>
          </a:p>
        </p:txBody>
      </p:sp>
      <p:sp>
        <p:nvSpPr>
          <p:cNvPr id="26" name="Oval 25"/>
          <p:cNvSpPr/>
          <p:nvPr/>
        </p:nvSpPr>
        <p:spPr>
          <a:xfrm>
            <a:off x="6519671" y="373075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08</a:t>
            </a:r>
          </a:p>
        </p:txBody>
      </p:sp>
      <p:sp>
        <p:nvSpPr>
          <p:cNvPr id="27" name="TextBox 26"/>
          <p:cNvSpPr txBox="1"/>
          <p:nvPr/>
        </p:nvSpPr>
        <p:spPr>
          <a:xfrm>
            <a:off x="5989319" y="468172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deploy-workload</a:t>
            </a:r>
          </a:p>
        </p:txBody>
      </p:sp>
      <p:sp>
        <p:nvSpPr>
          <p:cNvPr id="28" name="Oval 27"/>
          <p:cNvSpPr/>
          <p:nvPr/>
        </p:nvSpPr>
        <p:spPr>
          <a:xfrm>
            <a:off x="8394192" y="373075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09</a:t>
            </a:r>
          </a:p>
        </p:txBody>
      </p:sp>
      <p:sp>
        <p:nvSpPr>
          <p:cNvPr id="29" name="TextBox 28"/>
          <p:cNvSpPr txBox="1"/>
          <p:nvPr/>
        </p:nvSpPr>
        <p:spPr>
          <a:xfrm>
            <a:off x="7863840" y="468172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validate</a:t>
            </a:r>
          </a:p>
        </p:txBody>
      </p:sp>
      <p:sp>
        <p:nvSpPr>
          <p:cNvPr id="30" name="Oval 29"/>
          <p:cNvSpPr/>
          <p:nvPr/>
        </p:nvSpPr>
        <p:spPr>
          <a:xfrm>
            <a:off x="10268712" y="3730752"/>
            <a:ext cx="768096" cy="768096"/>
          </a:xfrm>
          <a:prstGeom prst="ellipse">
            <a:avLst/>
          </a:prstGeom>
          <a:solidFill>
            <a:srgbClr val="0B1622"/>
          </a:solidFill>
          <a:ln w="254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0" i="0">
                <a:solidFill>
                  <a:srgbClr val="FFFFFF"/>
                </a:solidFill>
                <a:latin typeface="Bahnschrift SemiBold"/>
              </a:rPr>
              <a:t>99</a:t>
            </a:r>
          </a:p>
        </p:txBody>
      </p:sp>
      <p:sp>
        <p:nvSpPr>
          <p:cNvPr id="31" name="TextBox 30"/>
          <p:cNvSpPr txBox="1"/>
          <p:nvPr/>
        </p:nvSpPr>
        <p:spPr>
          <a:xfrm>
            <a:off x="9738360" y="4681728"/>
            <a:ext cx="1828800" cy="457200"/>
          </a:xfrm>
          <a:prstGeom prst="rect">
            <a:avLst/>
          </a:prstGeom>
          <a:noFill/>
        </p:spPr>
        <p:txBody>
          <a:bodyPr wrap="square" lIns="0" rIns="0" tIns="0" bIns="0" anchor="t"/>
          <a:lstStyle/>
          <a:p>
            <a:pPr algn="ctr">
              <a:spcAft>
                <a:spcPts val="0"/>
              </a:spcAft>
            </a:pPr>
            <a:r>
              <a:rPr sz="1100" b="0" i="0">
                <a:solidFill>
                  <a:srgbClr val="16202C"/>
                </a:solidFill>
                <a:latin typeface="Cascadia Code"/>
              </a:rPr>
              <a:t>make destroy</a:t>
            </a:r>
          </a:p>
        </p:txBody>
      </p:sp>
      <p:sp>
        <p:nvSpPr>
          <p:cNvPr id="32" name="TextBox 31"/>
          <p:cNvSpPr txBox="1"/>
          <p:nvPr/>
        </p:nvSpPr>
        <p:spPr>
          <a:xfrm>
            <a:off x="685800" y="5532120"/>
            <a:ext cx="10881360" cy="411480"/>
          </a:xfrm>
          <a:prstGeom prst="rect">
            <a:avLst/>
          </a:prstGeom>
          <a:noFill/>
        </p:spPr>
        <p:txBody>
          <a:bodyPr wrap="square" lIns="0" rIns="0" tIns="0" bIns="0" anchor="t"/>
          <a:lstStyle/>
          <a:p>
            <a:pPr algn="l">
              <a:spcAft>
                <a:spcPts val="0"/>
              </a:spcAft>
            </a:pPr>
            <a:r>
              <a:rPr sz="1300" b="1" i="0">
                <a:solidFill>
                  <a:srgbClr val="E4002B"/>
                </a:solidFill>
                <a:latin typeface="Segoe UI"/>
              </a:rPr>
              <a:t>Red = billable step.    </a:t>
            </a:r>
            <a:r>
              <a:rPr sz="1300" b="0" i="0">
                <a:solidFill>
                  <a:srgbClr val="5E6B7A"/>
                </a:solidFill>
                <a:latin typeface="Segoe UI"/>
              </a:rPr>
              <a:t>Every step is idempotent; 99 waits for Equinix to release the circuit before deleting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fleet, three footprints: AKS, EKS and Kubernetes at Equinix</dc:title>
  <dc:subject>Microsoft Ignite 2026 - Azure Kubernetes Fleet Manager + Azure Arc + Equinix Fabric + ExpressRoute</dc:subject>
  <dc:creator>Brian Benz</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